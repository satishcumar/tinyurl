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4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assessment objective: this is not only a URL shortener. The differentiator is the control plane around engineering work. The prototype interprets requirements, builds a dependency graph, executes bounded tasks, stops for approvals, validates outcomes, and leaves an audit trail. State that the walkthrough will show the architecture, three SDLC scenarios, recovery controls, evidence, and a live demonstration.</a:t>
            </a:r>
          </a:p>
          <a:p>
            <a:endParaRPr/>
          </a:p>
          <a:p>
            <a:r>
              <a:t>[Sources]</a:t>
            </a:r>
          </a:p>
          <a:p>
            <a:r>
              <a:t>- README.md</a:t>
            </a:r>
          </a:p>
          <a:p>
            <a:r>
              <a:t>- docs/final-assessment.md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design around transformation. Requirement understanding is typed and reviewable; orchestration is dependency-aware and stateful; proof is generated as first-class output. Emphasize that governance is application logic, not an instruction hidden inside an agent prompt. This makes behavior deterministic, testable, and defensible.</a:t>
            </a:r>
          </a:p>
          <a:p>
            <a:endParaRPr/>
          </a:p>
          <a:p>
            <a:r>
              <a:t>[Sources]</a:t>
            </a:r>
          </a:p>
          <a:p>
            <a:r>
              <a:t>- docs/agentic-orchestration.md</a:t>
            </a:r>
          </a:p>
          <a:p>
            <a:r>
              <a:t>- src/main/java/com/tinyurl/orchestration/service/WorkflowService.java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left to right. The analyzer normalizes intent. The planner produces a validated directed acyclic graph. Policy evaluation occurs before task execution; approvals are explicit records. The engine runs independent tasks in parallel and synchronizes downstream work. The artifact store persists snapshots and evidence. Point out that state ownership is centralized in WorkflowService, preventing an agent from inventing transitions.</a:t>
            </a:r>
          </a:p>
          <a:p>
            <a:endParaRPr/>
          </a:p>
          <a:p>
            <a:r>
              <a:t>[Sources]</a:t>
            </a:r>
          </a:p>
          <a:p>
            <a:r>
              <a:t>- docs/architecture-overview.md</a:t>
            </a:r>
          </a:p>
          <a:p>
            <a:r>
              <a:t>- src/main/java/com/tinyurl/orchestration/service/WorkflowExecutionEngine.java</a:t>
            </a:r>
          </a:p>
          <a:p>
            <a:r>
              <a:t>- src/main/java/com/tinyurl/orchestration/service/PolicyEngine.java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autonomy boundary using concrete actions. Low-impact analysis and local validation can proceed automatically. Public API changes, schema changes, source-control writes, and deployment require approval. Force push and production-data modification are denied. For this prototype, the reviewed PR merge is the final release authorization. Mention that approver identity is caller-asserted and would require authentication in production.</a:t>
            </a:r>
          </a:p>
          <a:p>
            <a:endParaRPr/>
          </a:p>
          <a:p>
            <a:r>
              <a:t>[Sources]</a:t>
            </a:r>
          </a:p>
          <a:p>
            <a:r>
              <a:t>- orchestration/policies/autonomy-policy.yaml</a:t>
            </a:r>
          </a:p>
          <a:p>
            <a:r>
              <a:t>- docs/release-readiness.md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prove breadth. Greenfield shows normal feature delivery and parallelization. Brownfield adds repository-impact reasoning, versioned migration, data preservation, a recovery point, and a separate database-owner gate. Ambiguous analytics shows the agent identifying missing intent, selecting a privacy-preserving interpretation, and requiring a human to accept that interpretation before execution.</a:t>
            </a:r>
          </a:p>
          <a:p>
            <a:endParaRPr/>
          </a:p>
          <a:p>
            <a:r>
              <a:t>[Sources]</a:t>
            </a:r>
          </a:p>
          <a:p>
            <a:r>
              <a:t>- orchestration/requirements/url-expiration.md</a:t>
            </a:r>
          </a:p>
          <a:p>
            <a:r>
              <a:t>- orchestration/requirements/flyway-migration.md</a:t>
            </a:r>
          </a:p>
          <a:p>
            <a:r>
              <a:t>- orchestration/requirements/richer-analytics.md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bounded recovery loop. Results are classified first. Only transient failures retry, with a fixed budget. Validation, policy, and permanent failures do not retry blindly. On failure, downstream tasks become blocked, the workflow becomes SAFE_STOPPED, and reversible successful changes are compensated in reverse dependency order. For database changes, the runbook uses a verified backup or corrective forward migration rather than automated destructive undo.</a:t>
            </a:r>
          </a:p>
          <a:p>
            <a:endParaRPr/>
          </a:p>
          <a:p>
            <a:r>
              <a:t>[Sources]</a:t>
            </a:r>
          </a:p>
          <a:p>
            <a:r>
              <a:t>- src/main/java/com/tinyurl/orchestration/service/WorkflowExecutionEngine.java</a:t>
            </a:r>
          </a:p>
          <a:p>
            <a:r>
              <a:t>- docs/flyway-recovery.md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three numbers as anchors, not vanity metrics. Sixty-three tests passed in the final CI baseline. Three scenario types prove different planning behavior. Two scoped gates distinguish general plan authorization from database-change authorization. Then explain the per-execution metrics and artifacts: workflow snapshot, event log, command digests, metrics JSON, traceability matrix, and engineering summary.</a:t>
            </a:r>
          </a:p>
          <a:p>
            <a:endParaRPr/>
          </a:p>
          <a:p>
            <a:r>
              <a:t>[Sources]</a:t>
            </a:r>
          </a:p>
          <a:p>
            <a:r>
              <a:t>- GitHub Actions Maven CI run 22</a:t>
            </a:r>
          </a:p>
          <a:p>
            <a:r>
              <a:t>- docs/final-assessment.md</a:t>
            </a:r>
          </a:p>
          <a:p>
            <a:r>
              <a:t>- src/main/java/com/tinyurl/orchestration/service/ArtifactStore.java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into the live demonstration. First confirm actuator health. Run the all-scenarios script. Use the ambiguous workflow to show normalized intent and the plan approval stop. Use the brownfield workflow to show that plan approval alone does not authorize DDL. After completion, open one artifact directory and point to events, metrics, traceability, and engineering summary. Do not spend time reading JSON line by line; connect each artifact to an evaluation criterion.</a:t>
            </a:r>
          </a:p>
          <a:p>
            <a:endParaRPr/>
          </a:p>
          <a:p>
            <a:r>
              <a:t>[Sources]</a:t>
            </a:r>
          </a:p>
          <a:p>
            <a:r>
              <a:t>- scripts/demo-all-scenarios.sh</a:t>
            </a:r>
          </a:p>
          <a:p>
            <a:r>
              <a:t>- docs/release-readiness.md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demonstrate ownership rather than hide limitations. The first accepted limitation is requirement classification: any requirement containing the word analytics currently enters the ambiguous richer-analytics path, so a specific analytics bug could be misclassified. The second is metric semantics: average redirects per day uses the time from creation to observation, so an expired link's denominator continues growing after redirects have stopped. These limitations were reviewed and explicitly accepted for the assessment prototype. The production fixes are narrower intent detection and capping the active-period denominator at expiration. Preserve the broader decisions: Flyway owns schema, analytics avoids visitor tracking, command output is digested, and PR merge remains human authorization.</a:t>
            </a:r>
          </a:p>
          <a:p>
            <a:endParaRPr/>
          </a:p>
          <a:p>
            <a:r>
              <a:t>[Sources]</a:t>
            </a:r>
          </a:p>
          <a:p>
            <a:r>
              <a:t>- src/main/java/com/tinyurl/orchestration/service/RequirementAnalyzer.java</a:t>
            </a:r>
          </a:p>
          <a:p>
            <a:r>
              <a:t>- src/main/java/com/tinyurl/service/impl/UrlServiceImpl.java</a:t>
            </a:r>
          </a:p>
          <a:p>
            <a:r>
              <a:t>- docs/final-assessment.md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returning to the principle in the assessment: agents execute within defined autonomy boundaries; humans own oversight, approvals, and final quality. Summarize the differentiators in one sentence—stateful dependency orchestration, scoped approvals, bounded failure recovery, dynamic replanning, and audit-grade evidence. Invite questions or move directly into the live demo.</a:t>
            </a:r>
          </a:p>
          <a:p>
            <a:endParaRPr/>
          </a:p>
          <a:p>
            <a:r>
              <a:t>[Sources]</a:t>
            </a:r>
          </a:p>
          <a:p>
            <a:r>
              <a:t>- docs/final-assessment.md</a:t>
            </a:r>
          </a:p>
          <a:p>
            <a:r>
              <a:t>- docs/architecture-overview.md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ver-eyebrow">
            <a:extLst>
              <a:ext uri="{FF2B5EF4-FFF2-40B4-BE49-F238E27FC236}">
                <a16:creationId xmlns:a16="http://schemas.microsoft.com/office/drawing/2014/main" id="{6FF36D51-C30F-48A3-A7C6-B139385A56D7}"/>
              </a:ext>
            </a:extLst>
          </p:cNvPr>
          <p:cNvSpPr>
            <a:spLocks noGrp="1"/>
          </p:cNvSpPr>
          <p:nvPr/>
        </p:nvSpPr>
        <p:spPr>
          <a:xfrm>
            <a:off x="457200" y="342900"/>
            <a:ext cx="4762500" cy="304800"/>
          </a:xfrm>
          <a:prstGeom prst="rect">
            <a:avLst/>
          </a:prstGeom>
          <a:noFill/>
          <a:ln w="0">
            <a:noFill/>
            <a:prstDash val="solid"/>
          </a:ln>
        </p:spPr>
        <p:txBody>
          <a:bodyPr anchor="t">
            <a:normAutofit/>
          </a:bodyPr>
          <a:lstStyle/>
          <a:p>
            <a:pPr algn="l">
              <a:buNone/>
              <a:defRPr sz="1350" b="1">
                <a:solidFill>
                  <a:srgbClr val="60646C"/>
                </a:solidFill>
                <a:latin typeface="Arial"/>
                <a:ea typeface="Arial"/>
                <a:cs typeface="Arial"/>
              </a:defRPr>
            </a:pPr>
            <a:r>
              <a:rPr sz="1350" b="1" dirty="0">
                <a:solidFill>
                  <a:srgbClr val="60646C"/>
                </a:solidFill>
                <a:latin typeface="Arial"/>
                <a:ea typeface="Arial"/>
                <a:cs typeface="Arial"/>
              </a:rPr>
              <a:t>ENGINEERING ASSESSMENT</a:t>
            </a:r>
          </a:p>
        </p:txBody>
      </p:sp>
      <p:sp>
        <p:nvSpPr>
          <p:cNvPr id="2" name="cover-title">
            <a:extLst>
              <a:ext uri="{FF2B5EF4-FFF2-40B4-BE49-F238E27FC236}">
                <a16:creationId xmlns:a16="http://schemas.microsoft.com/office/drawing/2014/main" id="{D5C7CC07-9984-4649-B036-17C8DC19BEB4}"/>
              </a:ext>
            </a:extLst>
          </p:cNvPr>
          <p:cNvSpPr>
            <a:spLocks noGrp="1"/>
          </p:cNvSpPr>
          <p:nvPr/>
        </p:nvSpPr>
        <p:spPr>
          <a:xfrm>
            <a:off x="457200" y="1619250"/>
            <a:ext cx="10287000" cy="2095500"/>
          </a:xfrm>
          <a:prstGeom prst="rect">
            <a:avLst/>
          </a:prstGeom>
          <a:noFill/>
          <a:ln w="0">
            <a:noFill/>
            <a:prstDash val="solid"/>
          </a:ln>
        </p:spPr>
        <p:txBody>
          <a:bodyPr anchor="t">
            <a:normAutofit/>
          </a:bodyPr>
          <a:lstStyle/>
          <a:p>
            <a:pPr algn="l">
              <a:buNone/>
              <a:defRPr sz="4800" b="1">
                <a:solidFill>
                  <a:srgbClr val="111111"/>
                </a:solidFill>
                <a:latin typeface="Arial"/>
                <a:ea typeface="Arial"/>
                <a:cs typeface="Arial"/>
              </a:defRPr>
            </a:pPr>
            <a:r>
              <a:rPr sz="4800" b="1">
                <a:solidFill>
                  <a:srgbClr val="111111"/>
                </a:solidFill>
                <a:latin typeface="Arial"/>
                <a:ea typeface="Arial"/>
                <a:cs typeface="Arial"/>
              </a:rPr>
              <a:t>TinyURL: agentic SDLC</a:t>
            </a:r>
          </a:p>
          <a:p>
            <a:pPr algn="l">
              <a:buNone/>
              <a:defRPr sz="4800" b="1">
                <a:solidFill>
                  <a:srgbClr val="111111"/>
                </a:solidFill>
                <a:latin typeface="Arial"/>
                <a:ea typeface="Arial"/>
                <a:cs typeface="Arial"/>
              </a:defRPr>
            </a:pPr>
            <a:r>
              <a:rPr sz="4800" b="1">
                <a:solidFill>
                  <a:srgbClr val="111111"/>
                </a:solidFill>
                <a:latin typeface="Arial"/>
                <a:ea typeface="Arial"/>
                <a:cs typeface="Arial"/>
              </a:rPr>
              <a:t>with controlled autonomy</a:t>
            </a:r>
          </a:p>
        </p:txBody>
      </p:sp>
      <p:sp>
        <p:nvSpPr>
          <p:cNvPr id="3" name="cover-subtitle">
            <a:extLst>
              <a:ext uri="{FF2B5EF4-FFF2-40B4-BE49-F238E27FC236}">
                <a16:creationId xmlns:a16="http://schemas.microsoft.com/office/drawing/2014/main" id="{04C923C6-9C6F-4882-8269-8BE296EDF475}"/>
              </a:ext>
            </a:extLst>
          </p:cNvPr>
          <p:cNvSpPr>
            <a:spLocks noGrp="1"/>
          </p:cNvSpPr>
          <p:nvPr/>
        </p:nvSpPr>
        <p:spPr>
          <a:xfrm>
            <a:off x="457200" y="4381500"/>
            <a:ext cx="8001000" cy="819150"/>
          </a:xfrm>
          <a:prstGeom prst="rect">
            <a:avLst/>
          </a:prstGeom>
          <a:noFill/>
          <a:ln w="0">
            <a:noFill/>
            <a:prstDash val="solid"/>
          </a:ln>
        </p:spPr>
        <p:txBody>
          <a:bodyPr anchor="t">
            <a:normAutofit/>
          </a:bodyPr>
          <a:lstStyle/>
          <a:p>
            <a:pPr algn="l">
              <a:buNone/>
              <a:defRPr sz="2025" b="0">
                <a:solidFill>
                  <a:srgbClr val="111111"/>
                </a:solidFill>
                <a:latin typeface="Arial"/>
                <a:ea typeface="Arial"/>
                <a:cs typeface="Arial"/>
              </a:defRPr>
            </a:pPr>
            <a:r>
              <a:rPr sz="2025" b="0">
                <a:solidFill>
                  <a:srgbClr val="111111"/>
                </a:solidFill>
                <a:latin typeface="Arial"/>
                <a:ea typeface="Arial"/>
                <a:cs typeface="Arial"/>
              </a:rPr>
              <a:t>A working prototype that turns requirements into governed, reviewable engineering outcomes</a:t>
            </a:r>
          </a:p>
        </p:txBody>
      </p:sp>
      <p:sp>
        <p:nvSpPr>
          <p:cNvPr id="4" name="cover-accent">
            <a:extLst>
              <a:ext uri="{FF2B5EF4-FFF2-40B4-BE49-F238E27FC236}">
                <a16:creationId xmlns:a16="http://schemas.microsoft.com/office/drawing/2014/main" id="{9E7FD10F-88C0-4523-93F5-68550CC9D674}"/>
              </a:ext>
            </a:extLst>
          </p:cNvPr>
          <p:cNvSpPr>
            <a:spLocks noGrp="1"/>
          </p:cNvSpPr>
          <p:nvPr/>
        </p:nvSpPr>
        <p:spPr>
          <a:xfrm>
            <a:off x="457200" y="5762625"/>
            <a:ext cx="3048000" cy="114300"/>
          </a:xfrm>
          <a:prstGeom prst="rect">
            <a:avLst/>
          </a:prstGeom>
          <a:solidFill>
            <a:srgbClr val="3D8DFF"/>
          </a:solidFill>
          <a:ln w="0">
            <a:noFill/>
            <a:prstDash val="solid"/>
          </a:ln>
        </p:spPr>
        <p:txBody>
          <a:bodyPr/>
          <a:lstStyle/>
          <a:p>
            <a:endParaRPr lang="en-US"/>
          </a:p>
        </p:txBody>
      </p:sp>
      <p:sp>
        <p:nvSpPr>
          <p:cNvPr id="5" name="cover-name">
            <a:extLst>
              <a:ext uri="{FF2B5EF4-FFF2-40B4-BE49-F238E27FC236}">
                <a16:creationId xmlns:a16="http://schemas.microsoft.com/office/drawing/2014/main" id="{9A27066B-BB39-4074-A839-52A91BED8385}"/>
              </a:ext>
            </a:extLst>
          </p:cNvPr>
          <p:cNvSpPr>
            <a:spLocks noGrp="1"/>
          </p:cNvSpPr>
          <p:nvPr/>
        </p:nvSpPr>
        <p:spPr>
          <a:xfrm>
            <a:off x="457200" y="6096000"/>
            <a:ext cx="6667500" cy="304800"/>
          </a:xfrm>
          <a:prstGeom prst="rect">
            <a:avLst/>
          </a:prstGeom>
          <a:noFill/>
          <a:ln w="0">
            <a:noFill/>
            <a:prstDash val="solid"/>
          </a:ln>
        </p:spPr>
        <p:txBody>
          <a:bodyPr anchor="t">
            <a:normAutofit/>
          </a:bodyPr>
          <a:lstStyle/>
          <a:p>
            <a:pPr algn="l">
              <a:buNone/>
              <a:defRPr sz="1350" b="0">
                <a:solidFill>
                  <a:srgbClr val="60646C"/>
                </a:solidFill>
                <a:latin typeface="Arial"/>
                <a:ea typeface="Arial"/>
                <a:cs typeface="Arial"/>
              </a:defRPr>
            </a:pPr>
            <a:r>
              <a:rPr sz="1350" b="0">
                <a:solidFill>
                  <a:srgbClr val="60646C"/>
                </a:solidFill>
                <a:latin typeface="Arial"/>
                <a:ea typeface="Arial"/>
                <a:cs typeface="Arial"/>
              </a:rPr>
              <a:t>Satishkumar Raja · Java 21 · Spring Boot</a:t>
            </a:r>
          </a:p>
        </p:txBody>
      </p:sp>
    </p:spTree>
    <p:extLst>
      <p:ext uri="{BB962C8B-B14F-4D97-AF65-F5344CB8AC3E}">
        <p14:creationId xmlns:p14="http://schemas.microsoft.com/office/powerpoint/2010/main" val="643094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eyebrow-2">
            <a:extLst>
              <a:ext uri="{FF2B5EF4-FFF2-40B4-BE49-F238E27FC236}">
                <a16:creationId xmlns:a16="http://schemas.microsoft.com/office/drawing/2014/main" id="{2BC57291-2313-4A3B-93BE-0F7E03610158}"/>
              </a:ext>
            </a:extLst>
          </p:cNvPr>
          <p:cNvSpPr>
            <a:spLocks noGrp="1"/>
          </p:cNvSpPr>
          <p:nvPr/>
        </p:nvSpPr>
        <p:spPr>
          <a:xfrm>
            <a:off x="457200" y="266700"/>
            <a:ext cx="4762500" cy="266700"/>
          </a:xfrm>
          <a:prstGeom prst="rect">
            <a:avLst/>
          </a:prstGeom>
          <a:noFill/>
          <a:ln w="0">
            <a:noFill/>
            <a:prstDash val="solid"/>
          </a:ln>
        </p:spPr>
        <p:txBody>
          <a:bodyPr anchor="t">
            <a:normAutofit fontScale="95833"/>
          </a:bodyPr>
          <a:lstStyle/>
          <a:p>
            <a:pPr algn="l">
              <a:buNone/>
              <a:defRPr sz="1200" b="1">
                <a:solidFill>
                  <a:srgbClr val="60646C"/>
                </a:solidFill>
                <a:latin typeface="Arial"/>
                <a:ea typeface="Arial"/>
                <a:cs typeface="Arial"/>
              </a:defRPr>
            </a:pPr>
            <a:r>
              <a:rPr sz="1200" b="1">
                <a:solidFill>
                  <a:srgbClr val="60646C"/>
                </a:solidFill>
                <a:latin typeface="Arial"/>
                <a:ea typeface="Arial"/>
                <a:cs typeface="Arial"/>
              </a:rPr>
              <a:t>TINYURL · AGENTIC SDLC</a:t>
            </a:r>
          </a:p>
        </p:txBody>
      </p:sp>
      <p:sp>
        <p:nvSpPr>
          <p:cNvPr id="2" name="title-2">
            <a:extLst>
              <a:ext uri="{FF2B5EF4-FFF2-40B4-BE49-F238E27FC236}">
                <a16:creationId xmlns:a16="http://schemas.microsoft.com/office/drawing/2014/main" id="{6EA3CB88-7EF8-4A19-B45A-57B326F8B5F6}"/>
              </a:ext>
            </a:extLst>
          </p:cNvPr>
          <p:cNvSpPr>
            <a:spLocks noGrp="1"/>
          </p:cNvSpPr>
          <p:nvPr/>
        </p:nvSpPr>
        <p:spPr>
          <a:xfrm>
            <a:off x="457200" y="647700"/>
            <a:ext cx="11277600" cy="685800"/>
          </a:xfrm>
          <a:prstGeom prst="rect">
            <a:avLst/>
          </a:prstGeom>
          <a:noFill/>
          <a:ln w="0">
            <a:noFill/>
            <a:prstDash val="solid"/>
          </a:ln>
        </p:spPr>
        <p:txBody>
          <a:bodyPr anchor="t">
            <a:normAutofit fontScale="97985"/>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The outcome is an engineering control plane—not a prompt chain</a:t>
            </a:r>
          </a:p>
        </p:txBody>
      </p:sp>
      <p:sp>
        <p:nvSpPr>
          <p:cNvPr id="3" name="rule-2">
            <a:extLst>
              <a:ext uri="{FF2B5EF4-FFF2-40B4-BE49-F238E27FC236}">
                <a16:creationId xmlns:a16="http://schemas.microsoft.com/office/drawing/2014/main" id="{F0BF1004-04A9-4B56-84F1-5BCF013FFED8}"/>
              </a:ext>
            </a:extLst>
          </p:cNvPr>
          <p:cNvSpPr>
            <a:spLocks noGrp="1"/>
          </p:cNvSpPr>
          <p:nvPr/>
        </p:nvSpPr>
        <p:spPr>
          <a:xfrm>
            <a:off x="457200" y="1409700"/>
            <a:ext cx="11277600" cy="19050"/>
          </a:xfrm>
          <a:prstGeom prst="rect">
            <a:avLst/>
          </a:prstGeom>
          <a:solidFill>
            <a:srgbClr val="B8BCC4"/>
          </a:solidFill>
          <a:ln w="0">
            <a:noFill/>
            <a:prstDash val="solid"/>
          </a:ln>
        </p:spPr>
        <p:txBody>
          <a:bodyPr/>
          <a:lstStyle/>
          <a:p>
            <a:endParaRPr lang="en-US"/>
          </a:p>
        </p:txBody>
      </p:sp>
      <p:sp>
        <p:nvSpPr>
          <p:cNvPr id="4" name="page-2">
            <a:extLst>
              <a:ext uri="{FF2B5EF4-FFF2-40B4-BE49-F238E27FC236}">
                <a16:creationId xmlns:a16="http://schemas.microsoft.com/office/drawing/2014/main" id="{44912CA4-CED3-44A9-9A9C-A1C307DC0477}"/>
              </a:ext>
            </a:extLst>
          </p:cNvPr>
          <p:cNvSpPr>
            <a:spLocks noGrp="1"/>
          </p:cNvSpPr>
          <p:nvPr/>
        </p:nvSpPr>
        <p:spPr>
          <a:xfrm>
            <a:off x="11191875" y="6438900"/>
            <a:ext cx="523875" cy="209550"/>
          </a:xfrm>
          <a:prstGeom prst="rect">
            <a:avLst/>
          </a:prstGeom>
          <a:noFill/>
          <a:ln w="0">
            <a:noFill/>
            <a:prstDash val="solid"/>
          </a:ln>
        </p:spPr>
        <p:txBody>
          <a:bodyPr anchor="t">
            <a:normAutofit fontScale="73809"/>
          </a:bodyPr>
          <a:lstStyle/>
          <a:p>
            <a:pPr algn="r">
              <a:buNone/>
              <a:defRPr sz="1050" b="0">
                <a:solidFill>
                  <a:srgbClr val="60646C"/>
                </a:solidFill>
                <a:latin typeface="Arial"/>
                <a:ea typeface="Arial"/>
                <a:cs typeface="Arial"/>
              </a:defRPr>
            </a:pPr>
            <a:r>
              <a:rPr sz="1050" b="0">
                <a:solidFill>
                  <a:srgbClr val="60646C"/>
                </a:solidFill>
                <a:latin typeface="Arial"/>
                <a:ea typeface="Arial"/>
                <a:cs typeface="Arial"/>
              </a:rPr>
              <a:t>2</a:t>
            </a:r>
          </a:p>
        </p:txBody>
      </p:sp>
      <p:sp>
        <p:nvSpPr>
          <p:cNvPr id="5" name="outcome-lead">
            <a:extLst>
              <a:ext uri="{FF2B5EF4-FFF2-40B4-BE49-F238E27FC236}">
                <a16:creationId xmlns:a16="http://schemas.microsoft.com/office/drawing/2014/main" id="{5C0CA623-817D-4A9D-B401-C106A06433F1}"/>
              </a:ext>
            </a:extLst>
          </p:cNvPr>
          <p:cNvSpPr>
            <a:spLocks noGrp="1"/>
          </p:cNvSpPr>
          <p:nvPr/>
        </p:nvSpPr>
        <p:spPr>
          <a:xfrm>
            <a:off x="457200" y="1762125"/>
            <a:ext cx="5143500" cy="666750"/>
          </a:xfrm>
          <a:prstGeom prst="rect">
            <a:avLst/>
          </a:prstGeom>
          <a:noFill/>
          <a:ln w="0">
            <a:noFill/>
            <a:prstDash val="solid"/>
          </a:ln>
        </p:spPr>
        <p:txBody>
          <a:bodyPr anchor="t">
            <a:normAutofit fontScale="81183"/>
          </a:bodyPr>
          <a:lstStyle/>
          <a:p>
            <a:pPr algn="l">
              <a:buNone/>
              <a:defRPr sz="2325" b="1">
                <a:solidFill>
                  <a:srgbClr val="111111"/>
                </a:solidFill>
                <a:latin typeface="Arial"/>
                <a:ea typeface="Arial"/>
                <a:cs typeface="Arial"/>
              </a:defRPr>
            </a:pPr>
            <a:r>
              <a:rPr sz="2325" b="1">
                <a:solidFill>
                  <a:srgbClr val="111111"/>
                </a:solidFill>
                <a:latin typeface="Arial"/>
                <a:ea typeface="Arial"/>
                <a:cs typeface="Arial"/>
              </a:rPr>
              <a:t>One requirement enters. A review package leaves.</a:t>
            </a:r>
          </a:p>
        </p:txBody>
      </p:sp>
      <p:sp>
        <p:nvSpPr>
          <p:cNvPr id="6" name="num-0">
            <a:extLst>
              <a:ext uri="{FF2B5EF4-FFF2-40B4-BE49-F238E27FC236}">
                <a16:creationId xmlns:a16="http://schemas.microsoft.com/office/drawing/2014/main" id="{627051A8-B43B-41C0-984C-83B977AAB8B0}"/>
              </a:ext>
            </a:extLst>
          </p:cNvPr>
          <p:cNvSpPr>
            <a:spLocks noGrp="1"/>
          </p:cNvSpPr>
          <p:nvPr/>
        </p:nvSpPr>
        <p:spPr>
          <a:xfrm>
            <a:off x="457200" y="2714625"/>
            <a:ext cx="685800" cy="495300"/>
          </a:xfrm>
          <a:prstGeom prst="rect">
            <a:avLst/>
          </a:prstGeom>
          <a:noFill/>
          <a:ln w="0">
            <a:noFill/>
            <a:prstDash val="solid"/>
          </a:ln>
        </p:spPr>
        <p:txBody>
          <a:bodyPr anchor="t">
            <a:normAutofit/>
          </a:bodyPr>
          <a:lstStyle/>
          <a:p>
            <a:pPr algn="l">
              <a:buNone/>
              <a:defRPr sz="2550" b="1">
                <a:solidFill>
                  <a:srgbClr val="3D8DFF"/>
                </a:solidFill>
                <a:latin typeface="Arial"/>
                <a:ea typeface="Arial"/>
                <a:cs typeface="Arial"/>
              </a:defRPr>
            </a:pPr>
            <a:r>
              <a:rPr sz="2550" b="1">
                <a:solidFill>
                  <a:srgbClr val="3D8DFF"/>
                </a:solidFill>
                <a:latin typeface="Arial"/>
                <a:ea typeface="Arial"/>
                <a:cs typeface="Arial"/>
              </a:rPr>
              <a:t>01</a:t>
            </a:r>
          </a:p>
        </p:txBody>
      </p:sp>
      <p:sp>
        <p:nvSpPr>
          <p:cNvPr id="7" name="head-0">
            <a:extLst>
              <a:ext uri="{FF2B5EF4-FFF2-40B4-BE49-F238E27FC236}">
                <a16:creationId xmlns:a16="http://schemas.microsoft.com/office/drawing/2014/main" id="{8CB74A61-96B2-4961-812B-FB6771B55D1C}"/>
              </a:ext>
            </a:extLst>
          </p:cNvPr>
          <p:cNvSpPr>
            <a:spLocks noGrp="1"/>
          </p:cNvSpPr>
          <p:nvPr/>
        </p:nvSpPr>
        <p:spPr>
          <a:xfrm>
            <a:off x="1285875" y="2714625"/>
            <a:ext cx="2095500" cy="323850"/>
          </a:xfrm>
          <a:prstGeom prst="rect">
            <a:avLst/>
          </a:prstGeom>
          <a:noFill/>
          <a:ln w="0">
            <a:noFill/>
            <a:prstDash val="solid"/>
          </a:ln>
        </p:spPr>
        <p:txBody>
          <a:bodyPr anchor="t">
            <a:normAutofit fontScale="96825"/>
          </a:bodyPr>
          <a:lstStyle/>
          <a:p>
            <a:pPr algn="l">
              <a:buNone/>
              <a:defRPr sz="1575" b="1">
                <a:solidFill>
                  <a:srgbClr val="111111"/>
                </a:solidFill>
                <a:latin typeface="Arial"/>
                <a:ea typeface="Arial"/>
                <a:cs typeface="Arial"/>
              </a:defRPr>
            </a:pPr>
            <a:r>
              <a:rPr sz="1575" b="1">
                <a:solidFill>
                  <a:srgbClr val="111111"/>
                </a:solidFill>
                <a:latin typeface="Arial"/>
                <a:ea typeface="Arial"/>
                <a:cs typeface="Arial"/>
              </a:rPr>
              <a:t>UNDERSTAND</a:t>
            </a:r>
          </a:p>
        </p:txBody>
      </p:sp>
      <p:sp>
        <p:nvSpPr>
          <p:cNvPr id="8" name="body-0">
            <a:extLst>
              <a:ext uri="{FF2B5EF4-FFF2-40B4-BE49-F238E27FC236}">
                <a16:creationId xmlns:a16="http://schemas.microsoft.com/office/drawing/2014/main" id="{78FF0FD3-7605-4D46-B9A8-4D3984A66E93}"/>
              </a:ext>
            </a:extLst>
          </p:cNvPr>
          <p:cNvSpPr>
            <a:spLocks noGrp="1"/>
          </p:cNvSpPr>
          <p:nvPr/>
        </p:nvSpPr>
        <p:spPr>
          <a:xfrm>
            <a:off x="3429000" y="2714625"/>
            <a:ext cx="7810500" cy="552450"/>
          </a:xfrm>
          <a:prstGeom prst="rect">
            <a:avLst/>
          </a:prstGeom>
          <a:noFill/>
          <a:ln w="0">
            <a:noFill/>
            <a:prstDash val="solid"/>
          </a:ln>
        </p:spPr>
        <p:txBody>
          <a:bodyPr anchor="t">
            <a:normAutofit/>
          </a:bodyPr>
          <a:lstStyle/>
          <a:p>
            <a:pPr algn="l">
              <a:buNone/>
              <a:defRPr sz="1650" b="0">
                <a:solidFill>
                  <a:srgbClr val="60646C"/>
                </a:solidFill>
                <a:latin typeface="Arial"/>
                <a:ea typeface="Arial"/>
                <a:cs typeface="Arial"/>
              </a:defRPr>
            </a:pPr>
            <a:r>
              <a:rPr sz="1650" b="0">
                <a:solidFill>
                  <a:srgbClr val="60646C"/>
                </a:solidFill>
                <a:latin typeface="Arial"/>
                <a:ea typeface="Arial"/>
                <a:cs typeface="Arial"/>
              </a:rPr>
              <a:t>Acceptance criteria, assumptions, ambiguity, risks, repository impact</a:t>
            </a:r>
          </a:p>
        </p:txBody>
      </p:sp>
      <p:sp>
        <p:nvSpPr>
          <p:cNvPr id="9" name="num-1">
            <a:extLst>
              <a:ext uri="{FF2B5EF4-FFF2-40B4-BE49-F238E27FC236}">
                <a16:creationId xmlns:a16="http://schemas.microsoft.com/office/drawing/2014/main" id="{103CF312-CD81-4791-99F2-351EF353DA76}"/>
              </a:ext>
            </a:extLst>
          </p:cNvPr>
          <p:cNvSpPr>
            <a:spLocks noGrp="1"/>
          </p:cNvSpPr>
          <p:nvPr/>
        </p:nvSpPr>
        <p:spPr>
          <a:xfrm>
            <a:off x="457200" y="3781425"/>
            <a:ext cx="685800" cy="495300"/>
          </a:xfrm>
          <a:prstGeom prst="rect">
            <a:avLst/>
          </a:prstGeom>
          <a:noFill/>
          <a:ln w="0">
            <a:noFill/>
            <a:prstDash val="solid"/>
          </a:ln>
        </p:spPr>
        <p:txBody>
          <a:bodyPr anchor="t">
            <a:normAutofit/>
          </a:bodyPr>
          <a:lstStyle/>
          <a:p>
            <a:pPr algn="l">
              <a:buNone/>
              <a:defRPr sz="2550" b="1">
                <a:solidFill>
                  <a:srgbClr val="3D8DFF"/>
                </a:solidFill>
                <a:latin typeface="Arial"/>
                <a:ea typeface="Arial"/>
                <a:cs typeface="Arial"/>
              </a:defRPr>
            </a:pPr>
            <a:r>
              <a:rPr sz="2550" b="1">
                <a:solidFill>
                  <a:srgbClr val="3D8DFF"/>
                </a:solidFill>
                <a:latin typeface="Arial"/>
                <a:ea typeface="Arial"/>
                <a:cs typeface="Arial"/>
              </a:rPr>
              <a:t>02</a:t>
            </a:r>
          </a:p>
        </p:txBody>
      </p:sp>
      <p:sp>
        <p:nvSpPr>
          <p:cNvPr id="10" name="head-1">
            <a:extLst>
              <a:ext uri="{FF2B5EF4-FFF2-40B4-BE49-F238E27FC236}">
                <a16:creationId xmlns:a16="http://schemas.microsoft.com/office/drawing/2014/main" id="{C51DE5ED-8E79-4410-83B3-61FDDD494009}"/>
              </a:ext>
            </a:extLst>
          </p:cNvPr>
          <p:cNvSpPr>
            <a:spLocks noGrp="1"/>
          </p:cNvSpPr>
          <p:nvPr/>
        </p:nvSpPr>
        <p:spPr>
          <a:xfrm>
            <a:off x="1285875" y="3781425"/>
            <a:ext cx="2095500" cy="323850"/>
          </a:xfrm>
          <a:prstGeom prst="rect">
            <a:avLst/>
          </a:prstGeom>
          <a:noFill/>
          <a:ln w="0">
            <a:noFill/>
            <a:prstDash val="solid"/>
          </a:ln>
        </p:spPr>
        <p:txBody>
          <a:bodyPr anchor="t">
            <a:normAutofit fontScale="96825"/>
          </a:bodyPr>
          <a:lstStyle/>
          <a:p>
            <a:pPr algn="l">
              <a:buNone/>
              <a:defRPr sz="1575" b="1">
                <a:solidFill>
                  <a:srgbClr val="111111"/>
                </a:solidFill>
                <a:latin typeface="Arial"/>
                <a:ea typeface="Arial"/>
                <a:cs typeface="Arial"/>
              </a:defRPr>
            </a:pPr>
            <a:r>
              <a:rPr sz="1575" b="1">
                <a:solidFill>
                  <a:srgbClr val="111111"/>
                </a:solidFill>
                <a:latin typeface="Arial"/>
                <a:ea typeface="Arial"/>
                <a:cs typeface="Arial"/>
              </a:rPr>
              <a:t>ORCHESTRATE</a:t>
            </a:r>
          </a:p>
        </p:txBody>
      </p:sp>
      <p:sp>
        <p:nvSpPr>
          <p:cNvPr id="11" name="body-1">
            <a:extLst>
              <a:ext uri="{FF2B5EF4-FFF2-40B4-BE49-F238E27FC236}">
                <a16:creationId xmlns:a16="http://schemas.microsoft.com/office/drawing/2014/main" id="{A26B5070-A43C-4FD9-993D-6A68AA968F70}"/>
              </a:ext>
            </a:extLst>
          </p:cNvPr>
          <p:cNvSpPr>
            <a:spLocks noGrp="1"/>
          </p:cNvSpPr>
          <p:nvPr/>
        </p:nvSpPr>
        <p:spPr>
          <a:xfrm>
            <a:off x="3429000" y="3781425"/>
            <a:ext cx="7810500" cy="552450"/>
          </a:xfrm>
          <a:prstGeom prst="rect">
            <a:avLst/>
          </a:prstGeom>
          <a:noFill/>
          <a:ln w="0">
            <a:noFill/>
            <a:prstDash val="solid"/>
          </a:ln>
        </p:spPr>
        <p:txBody>
          <a:bodyPr anchor="t">
            <a:normAutofit/>
          </a:bodyPr>
          <a:lstStyle/>
          <a:p>
            <a:pPr algn="l">
              <a:buNone/>
              <a:defRPr sz="1650" b="0">
                <a:solidFill>
                  <a:srgbClr val="60646C"/>
                </a:solidFill>
                <a:latin typeface="Arial"/>
                <a:ea typeface="Arial"/>
                <a:cs typeface="Arial"/>
              </a:defRPr>
            </a:pPr>
            <a:r>
              <a:rPr sz="1650" b="0">
                <a:solidFill>
                  <a:srgbClr val="60646C"/>
                </a:solidFill>
                <a:latin typeface="Arial"/>
                <a:ea typeface="Arial"/>
                <a:cs typeface="Arial"/>
              </a:rPr>
              <a:t>Validated DAG, parallel branches, synchronization, approvals, replanning</a:t>
            </a:r>
          </a:p>
        </p:txBody>
      </p:sp>
      <p:sp>
        <p:nvSpPr>
          <p:cNvPr id="12" name="num-2">
            <a:extLst>
              <a:ext uri="{FF2B5EF4-FFF2-40B4-BE49-F238E27FC236}">
                <a16:creationId xmlns:a16="http://schemas.microsoft.com/office/drawing/2014/main" id="{6638734B-DC1F-4298-9C95-896349753BCD}"/>
              </a:ext>
            </a:extLst>
          </p:cNvPr>
          <p:cNvSpPr>
            <a:spLocks noGrp="1"/>
          </p:cNvSpPr>
          <p:nvPr/>
        </p:nvSpPr>
        <p:spPr>
          <a:xfrm>
            <a:off x="457200" y="4848225"/>
            <a:ext cx="685800" cy="495300"/>
          </a:xfrm>
          <a:prstGeom prst="rect">
            <a:avLst/>
          </a:prstGeom>
          <a:noFill/>
          <a:ln w="0">
            <a:noFill/>
            <a:prstDash val="solid"/>
          </a:ln>
        </p:spPr>
        <p:txBody>
          <a:bodyPr anchor="t">
            <a:normAutofit/>
          </a:bodyPr>
          <a:lstStyle/>
          <a:p>
            <a:pPr algn="l">
              <a:buNone/>
              <a:defRPr sz="2550" b="1">
                <a:solidFill>
                  <a:srgbClr val="3D8DFF"/>
                </a:solidFill>
                <a:latin typeface="Arial"/>
                <a:ea typeface="Arial"/>
                <a:cs typeface="Arial"/>
              </a:defRPr>
            </a:pPr>
            <a:r>
              <a:rPr sz="2550" b="1">
                <a:solidFill>
                  <a:srgbClr val="3D8DFF"/>
                </a:solidFill>
                <a:latin typeface="Arial"/>
                <a:ea typeface="Arial"/>
                <a:cs typeface="Arial"/>
              </a:rPr>
              <a:t>03</a:t>
            </a:r>
          </a:p>
        </p:txBody>
      </p:sp>
      <p:sp>
        <p:nvSpPr>
          <p:cNvPr id="13" name="head-2">
            <a:extLst>
              <a:ext uri="{FF2B5EF4-FFF2-40B4-BE49-F238E27FC236}">
                <a16:creationId xmlns:a16="http://schemas.microsoft.com/office/drawing/2014/main" id="{F5EE494F-2112-4428-9FA1-B407F63BCD01}"/>
              </a:ext>
            </a:extLst>
          </p:cNvPr>
          <p:cNvSpPr>
            <a:spLocks noGrp="1"/>
          </p:cNvSpPr>
          <p:nvPr/>
        </p:nvSpPr>
        <p:spPr>
          <a:xfrm>
            <a:off x="1285875" y="4848225"/>
            <a:ext cx="2095500" cy="323850"/>
          </a:xfrm>
          <a:prstGeom prst="rect">
            <a:avLst/>
          </a:prstGeom>
          <a:noFill/>
          <a:ln w="0">
            <a:noFill/>
            <a:prstDash val="solid"/>
          </a:ln>
        </p:spPr>
        <p:txBody>
          <a:bodyPr anchor="t">
            <a:normAutofit fontScale="96825"/>
          </a:bodyPr>
          <a:lstStyle/>
          <a:p>
            <a:pPr algn="l">
              <a:buNone/>
              <a:defRPr sz="1575" b="1">
                <a:solidFill>
                  <a:srgbClr val="111111"/>
                </a:solidFill>
                <a:latin typeface="Arial"/>
                <a:ea typeface="Arial"/>
                <a:cs typeface="Arial"/>
              </a:defRPr>
            </a:pPr>
            <a:r>
              <a:rPr sz="1575" b="1">
                <a:solidFill>
                  <a:srgbClr val="111111"/>
                </a:solidFill>
                <a:latin typeface="Arial"/>
                <a:ea typeface="Arial"/>
                <a:cs typeface="Arial"/>
              </a:rPr>
              <a:t>PROVE</a:t>
            </a:r>
          </a:p>
        </p:txBody>
      </p:sp>
      <p:sp>
        <p:nvSpPr>
          <p:cNvPr id="14" name="body-2">
            <a:extLst>
              <a:ext uri="{FF2B5EF4-FFF2-40B4-BE49-F238E27FC236}">
                <a16:creationId xmlns:a16="http://schemas.microsoft.com/office/drawing/2014/main" id="{C92CC158-601C-4E91-8B8B-C1E49768B4FB}"/>
              </a:ext>
            </a:extLst>
          </p:cNvPr>
          <p:cNvSpPr>
            <a:spLocks noGrp="1"/>
          </p:cNvSpPr>
          <p:nvPr/>
        </p:nvSpPr>
        <p:spPr>
          <a:xfrm>
            <a:off x="3429000" y="4848225"/>
            <a:ext cx="7810500" cy="552450"/>
          </a:xfrm>
          <a:prstGeom prst="rect">
            <a:avLst/>
          </a:prstGeom>
          <a:noFill/>
          <a:ln w="0">
            <a:noFill/>
            <a:prstDash val="solid"/>
          </a:ln>
        </p:spPr>
        <p:txBody>
          <a:bodyPr anchor="t">
            <a:normAutofit/>
          </a:bodyPr>
          <a:lstStyle/>
          <a:p>
            <a:pPr algn="l">
              <a:buNone/>
              <a:defRPr sz="1650" b="0">
                <a:solidFill>
                  <a:srgbClr val="60646C"/>
                </a:solidFill>
                <a:latin typeface="Arial"/>
                <a:ea typeface="Arial"/>
                <a:cs typeface="Arial"/>
              </a:defRPr>
            </a:pPr>
            <a:r>
              <a:rPr sz="1650" b="0">
                <a:solidFill>
                  <a:srgbClr val="60646C"/>
                </a:solidFill>
                <a:latin typeface="Arial"/>
                <a:ea typeface="Arial"/>
                <a:cs typeface="Arial"/>
              </a:rPr>
              <a:t>Code, tests, command digests, traceability, metrics, recovery evidence</a:t>
            </a:r>
          </a:p>
        </p:txBody>
      </p:sp>
    </p:spTree>
    <p:extLst>
      <p:ext uri="{BB962C8B-B14F-4D97-AF65-F5344CB8AC3E}">
        <p14:creationId xmlns:p14="http://schemas.microsoft.com/office/powerpoint/2010/main" val="1017446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eyebrow-3">
            <a:extLst>
              <a:ext uri="{FF2B5EF4-FFF2-40B4-BE49-F238E27FC236}">
                <a16:creationId xmlns:a16="http://schemas.microsoft.com/office/drawing/2014/main" id="{AE21C9BA-1A31-4011-B665-2ED661EE2CAA}"/>
              </a:ext>
            </a:extLst>
          </p:cNvPr>
          <p:cNvSpPr>
            <a:spLocks noGrp="1"/>
          </p:cNvSpPr>
          <p:nvPr/>
        </p:nvSpPr>
        <p:spPr>
          <a:xfrm>
            <a:off x="457200" y="266700"/>
            <a:ext cx="4762500" cy="266700"/>
          </a:xfrm>
          <a:prstGeom prst="rect">
            <a:avLst/>
          </a:prstGeom>
          <a:noFill/>
          <a:ln w="0">
            <a:noFill/>
            <a:prstDash val="solid"/>
          </a:ln>
        </p:spPr>
        <p:txBody>
          <a:bodyPr anchor="t">
            <a:normAutofit fontScale="95833"/>
          </a:bodyPr>
          <a:lstStyle/>
          <a:p>
            <a:pPr algn="l">
              <a:buNone/>
              <a:defRPr sz="1200" b="1">
                <a:solidFill>
                  <a:srgbClr val="60646C"/>
                </a:solidFill>
                <a:latin typeface="Arial"/>
                <a:ea typeface="Arial"/>
                <a:cs typeface="Arial"/>
              </a:defRPr>
            </a:pPr>
            <a:r>
              <a:rPr sz="1200" b="1">
                <a:solidFill>
                  <a:srgbClr val="60646C"/>
                </a:solidFill>
                <a:latin typeface="Arial"/>
                <a:ea typeface="Arial"/>
                <a:cs typeface="Arial"/>
              </a:rPr>
              <a:t>TINYURL · AGENTIC SDLC</a:t>
            </a:r>
          </a:p>
        </p:txBody>
      </p:sp>
      <p:sp>
        <p:nvSpPr>
          <p:cNvPr id="2" name="title-3">
            <a:extLst>
              <a:ext uri="{FF2B5EF4-FFF2-40B4-BE49-F238E27FC236}">
                <a16:creationId xmlns:a16="http://schemas.microsoft.com/office/drawing/2014/main" id="{8E24FB94-05C3-471F-88A7-69B2F4A32B1D}"/>
              </a:ext>
            </a:extLst>
          </p:cNvPr>
          <p:cNvSpPr>
            <a:spLocks noGrp="1"/>
          </p:cNvSpPr>
          <p:nvPr/>
        </p:nvSpPr>
        <p:spPr>
          <a:xfrm>
            <a:off x="457200" y="647700"/>
            <a:ext cx="11277600" cy="685800"/>
          </a:xfrm>
          <a:prstGeom prst="rect">
            <a:avLst/>
          </a:prstGeom>
          <a:noFill/>
          <a:ln w="0">
            <a:noFill/>
            <a:prstDash val="solid"/>
          </a:ln>
        </p:spPr>
        <p:txBody>
          <a:bodyPr anchor="t">
            <a:normAutofit/>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Governance surrounds every agent action</a:t>
            </a:r>
          </a:p>
        </p:txBody>
      </p:sp>
      <p:sp>
        <p:nvSpPr>
          <p:cNvPr id="3" name="rule-3">
            <a:extLst>
              <a:ext uri="{FF2B5EF4-FFF2-40B4-BE49-F238E27FC236}">
                <a16:creationId xmlns:a16="http://schemas.microsoft.com/office/drawing/2014/main" id="{1C4FB82C-23DA-48A3-B62A-CFCC04734D84}"/>
              </a:ext>
            </a:extLst>
          </p:cNvPr>
          <p:cNvSpPr>
            <a:spLocks noGrp="1"/>
          </p:cNvSpPr>
          <p:nvPr/>
        </p:nvSpPr>
        <p:spPr>
          <a:xfrm>
            <a:off x="457200" y="1409700"/>
            <a:ext cx="11277600" cy="19050"/>
          </a:xfrm>
          <a:prstGeom prst="rect">
            <a:avLst/>
          </a:prstGeom>
          <a:solidFill>
            <a:srgbClr val="B8BCC4"/>
          </a:solidFill>
          <a:ln w="0">
            <a:noFill/>
            <a:prstDash val="solid"/>
          </a:ln>
        </p:spPr>
        <p:txBody>
          <a:bodyPr/>
          <a:lstStyle/>
          <a:p>
            <a:endParaRPr lang="en-US"/>
          </a:p>
        </p:txBody>
      </p:sp>
      <p:sp>
        <p:nvSpPr>
          <p:cNvPr id="4" name="page-3">
            <a:extLst>
              <a:ext uri="{FF2B5EF4-FFF2-40B4-BE49-F238E27FC236}">
                <a16:creationId xmlns:a16="http://schemas.microsoft.com/office/drawing/2014/main" id="{2AD6BAA4-3753-4659-BDF2-C49D94CF0ACF}"/>
              </a:ext>
            </a:extLst>
          </p:cNvPr>
          <p:cNvSpPr>
            <a:spLocks noGrp="1"/>
          </p:cNvSpPr>
          <p:nvPr/>
        </p:nvSpPr>
        <p:spPr>
          <a:xfrm>
            <a:off x="11191875" y="6438900"/>
            <a:ext cx="523875" cy="209550"/>
          </a:xfrm>
          <a:prstGeom prst="rect">
            <a:avLst/>
          </a:prstGeom>
          <a:noFill/>
          <a:ln w="0">
            <a:noFill/>
            <a:prstDash val="solid"/>
          </a:ln>
        </p:spPr>
        <p:txBody>
          <a:bodyPr anchor="t">
            <a:normAutofit fontScale="73809"/>
          </a:bodyPr>
          <a:lstStyle/>
          <a:p>
            <a:pPr algn="r">
              <a:buNone/>
              <a:defRPr sz="1050" b="0">
                <a:solidFill>
                  <a:srgbClr val="60646C"/>
                </a:solidFill>
                <a:latin typeface="Arial"/>
                <a:ea typeface="Arial"/>
                <a:cs typeface="Arial"/>
              </a:defRPr>
            </a:pPr>
            <a:r>
              <a:rPr sz="1050" b="0">
                <a:solidFill>
                  <a:srgbClr val="60646C"/>
                </a:solidFill>
                <a:latin typeface="Arial"/>
                <a:ea typeface="Arial"/>
                <a:cs typeface="Arial"/>
              </a:rPr>
              <a:t>3</a:t>
            </a:r>
          </a:p>
        </p:txBody>
      </p:sp>
      <p:sp>
        <p:nvSpPr>
          <p:cNvPr id="5" name="edge-0">
            <a:extLst>
              <a:ext uri="{FF2B5EF4-FFF2-40B4-BE49-F238E27FC236}">
                <a16:creationId xmlns:a16="http://schemas.microsoft.com/office/drawing/2014/main" id="{F17E44F8-749C-4412-979A-51A1DADD99A3}"/>
              </a:ext>
            </a:extLst>
          </p:cNvPr>
          <p:cNvSpPr>
            <a:spLocks noGrp="1"/>
          </p:cNvSpPr>
          <p:nvPr/>
        </p:nvSpPr>
        <p:spPr>
          <a:xfrm>
            <a:off x="2190750" y="2667000"/>
            <a:ext cx="1524000" cy="28575"/>
          </a:xfrm>
          <a:prstGeom prst="rect">
            <a:avLst/>
          </a:prstGeom>
          <a:solidFill>
            <a:srgbClr val="3D8DFF"/>
          </a:solidFill>
          <a:ln w="0">
            <a:noFill/>
            <a:prstDash val="solid"/>
          </a:ln>
        </p:spPr>
        <p:txBody>
          <a:bodyPr/>
          <a:lstStyle/>
          <a:p>
            <a:endParaRPr lang="en-US"/>
          </a:p>
        </p:txBody>
      </p:sp>
      <p:sp>
        <p:nvSpPr>
          <p:cNvPr id="6" name="edge-1">
            <a:extLst>
              <a:ext uri="{FF2B5EF4-FFF2-40B4-BE49-F238E27FC236}">
                <a16:creationId xmlns:a16="http://schemas.microsoft.com/office/drawing/2014/main" id="{B615825E-1DCD-49E9-ACEC-1932786CF1AD}"/>
              </a:ext>
            </a:extLst>
          </p:cNvPr>
          <p:cNvSpPr>
            <a:spLocks noGrp="1"/>
          </p:cNvSpPr>
          <p:nvPr/>
        </p:nvSpPr>
        <p:spPr>
          <a:xfrm>
            <a:off x="4476750" y="2667000"/>
            <a:ext cx="1524000" cy="28575"/>
          </a:xfrm>
          <a:prstGeom prst="rect">
            <a:avLst/>
          </a:prstGeom>
          <a:solidFill>
            <a:srgbClr val="3D8DFF"/>
          </a:solidFill>
          <a:ln w="0">
            <a:noFill/>
            <a:prstDash val="solid"/>
          </a:ln>
        </p:spPr>
        <p:txBody>
          <a:bodyPr/>
          <a:lstStyle/>
          <a:p>
            <a:endParaRPr lang="en-US"/>
          </a:p>
        </p:txBody>
      </p:sp>
      <p:sp>
        <p:nvSpPr>
          <p:cNvPr id="7" name="edge-2">
            <a:extLst>
              <a:ext uri="{FF2B5EF4-FFF2-40B4-BE49-F238E27FC236}">
                <a16:creationId xmlns:a16="http://schemas.microsoft.com/office/drawing/2014/main" id="{B17B58E6-5205-4343-8836-F39591411E1E}"/>
              </a:ext>
            </a:extLst>
          </p:cNvPr>
          <p:cNvSpPr>
            <a:spLocks noGrp="1"/>
          </p:cNvSpPr>
          <p:nvPr/>
        </p:nvSpPr>
        <p:spPr>
          <a:xfrm>
            <a:off x="6762750" y="2667000"/>
            <a:ext cx="1524000" cy="28575"/>
          </a:xfrm>
          <a:prstGeom prst="rect">
            <a:avLst/>
          </a:prstGeom>
          <a:solidFill>
            <a:srgbClr val="3D8DFF"/>
          </a:solidFill>
          <a:ln w="0">
            <a:noFill/>
            <a:prstDash val="solid"/>
          </a:ln>
        </p:spPr>
        <p:txBody>
          <a:bodyPr/>
          <a:lstStyle/>
          <a:p>
            <a:endParaRPr lang="en-US"/>
          </a:p>
        </p:txBody>
      </p:sp>
      <p:sp>
        <p:nvSpPr>
          <p:cNvPr id="8" name="edge-3">
            <a:extLst>
              <a:ext uri="{FF2B5EF4-FFF2-40B4-BE49-F238E27FC236}">
                <a16:creationId xmlns:a16="http://schemas.microsoft.com/office/drawing/2014/main" id="{E5EEECEB-FE9C-4A47-8882-74B74B4F55AB}"/>
              </a:ext>
            </a:extLst>
          </p:cNvPr>
          <p:cNvSpPr>
            <a:spLocks noGrp="1"/>
          </p:cNvSpPr>
          <p:nvPr/>
        </p:nvSpPr>
        <p:spPr>
          <a:xfrm>
            <a:off x="9048750" y="2667000"/>
            <a:ext cx="1524000" cy="28575"/>
          </a:xfrm>
          <a:prstGeom prst="rect">
            <a:avLst/>
          </a:prstGeom>
          <a:solidFill>
            <a:srgbClr val="3D8DFF"/>
          </a:solidFill>
          <a:ln w="0">
            <a:noFill/>
            <a:prstDash val="solid"/>
          </a:ln>
        </p:spPr>
        <p:txBody>
          <a:bodyPr/>
          <a:lstStyle/>
          <a:p>
            <a:endParaRPr lang="en-US"/>
          </a:p>
        </p:txBody>
      </p:sp>
      <p:sp>
        <p:nvSpPr>
          <p:cNvPr id="9" name="node-0">
            <a:extLst>
              <a:ext uri="{FF2B5EF4-FFF2-40B4-BE49-F238E27FC236}">
                <a16:creationId xmlns:a16="http://schemas.microsoft.com/office/drawing/2014/main" id="{AA3F8EBC-BF5E-4FF8-AB39-17F1C9E4BD3D}"/>
              </a:ext>
            </a:extLst>
          </p:cNvPr>
          <p:cNvSpPr>
            <a:spLocks noGrp="1"/>
          </p:cNvSpPr>
          <p:nvPr/>
        </p:nvSpPr>
        <p:spPr>
          <a:xfrm>
            <a:off x="457200" y="2095500"/>
            <a:ext cx="1752600" cy="1200150"/>
          </a:xfrm>
          <a:prstGeom prst="roundRect">
            <a:avLst>
              <a:gd name="adj" fmla="val 6349"/>
            </a:avLst>
          </a:prstGeom>
          <a:solidFill>
            <a:srgbClr val="EDEDED"/>
          </a:solidFill>
          <a:ln w="0">
            <a:noFill/>
            <a:prstDash val="solid"/>
          </a:ln>
        </p:spPr>
        <p:txBody>
          <a:bodyPr/>
          <a:lstStyle/>
          <a:p>
            <a:endParaRPr lang="en-US"/>
          </a:p>
        </p:txBody>
      </p:sp>
      <p:sp>
        <p:nvSpPr>
          <p:cNvPr id="10" name="node-text-0">
            <a:extLst>
              <a:ext uri="{FF2B5EF4-FFF2-40B4-BE49-F238E27FC236}">
                <a16:creationId xmlns:a16="http://schemas.microsoft.com/office/drawing/2014/main" id="{D77FCB15-880F-438E-8BB7-DD23C9F58288}"/>
              </a:ext>
            </a:extLst>
          </p:cNvPr>
          <p:cNvSpPr>
            <a:spLocks noGrp="1"/>
          </p:cNvSpPr>
          <p:nvPr/>
        </p:nvSpPr>
        <p:spPr>
          <a:xfrm>
            <a:off x="552450" y="2390775"/>
            <a:ext cx="1562100" cy="666750"/>
          </a:xfrm>
          <a:prstGeom prst="rect">
            <a:avLst/>
          </a:prstGeom>
          <a:noFill/>
          <a:ln w="0">
            <a:noFill/>
            <a:prstDash val="solid"/>
          </a:ln>
        </p:spPr>
        <p:txBody>
          <a:bodyPr anchor="ctr">
            <a:normAutofit/>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Requirement</a:t>
            </a:r>
          </a:p>
          <a:p>
            <a:pPr algn="ctr">
              <a:buNone/>
              <a:defRPr sz="1650" b="1">
                <a:solidFill>
                  <a:srgbClr val="111111"/>
                </a:solidFill>
                <a:latin typeface="Arial"/>
                <a:ea typeface="Arial"/>
                <a:cs typeface="Arial"/>
              </a:defRPr>
            </a:pPr>
            <a:r>
              <a:rPr sz="1650" b="1">
                <a:solidFill>
                  <a:srgbClr val="111111"/>
                </a:solidFill>
                <a:latin typeface="Arial"/>
                <a:ea typeface="Arial"/>
                <a:cs typeface="Arial"/>
              </a:rPr>
              <a:t>intake</a:t>
            </a:r>
          </a:p>
        </p:txBody>
      </p:sp>
      <p:sp>
        <p:nvSpPr>
          <p:cNvPr id="11" name="node-1">
            <a:extLst>
              <a:ext uri="{FF2B5EF4-FFF2-40B4-BE49-F238E27FC236}">
                <a16:creationId xmlns:a16="http://schemas.microsoft.com/office/drawing/2014/main" id="{BB5D54CC-DFCE-491C-AAD6-9C42334A40DE}"/>
              </a:ext>
            </a:extLst>
          </p:cNvPr>
          <p:cNvSpPr>
            <a:spLocks noGrp="1"/>
          </p:cNvSpPr>
          <p:nvPr/>
        </p:nvSpPr>
        <p:spPr>
          <a:xfrm>
            <a:off x="2743200" y="2095500"/>
            <a:ext cx="1752600" cy="1200150"/>
          </a:xfrm>
          <a:prstGeom prst="roundRect">
            <a:avLst>
              <a:gd name="adj" fmla="val 6349"/>
            </a:avLst>
          </a:prstGeom>
          <a:solidFill>
            <a:srgbClr val="EDEDED"/>
          </a:solidFill>
          <a:ln w="0">
            <a:noFill/>
            <a:prstDash val="solid"/>
          </a:ln>
        </p:spPr>
        <p:txBody>
          <a:bodyPr/>
          <a:lstStyle/>
          <a:p>
            <a:endParaRPr lang="en-US"/>
          </a:p>
        </p:txBody>
      </p:sp>
      <p:sp>
        <p:nvSpPr>
          <p:cNvPr id="12" name="node-text-1">
            <a:extLst>
              <a:ext uri="{FF2B5EF4-FFF2-40B4-BE49-F238E27FC236}">
                <a16:creationId xmlns:a16="http://schemas.microsoft.com/office/drawing/2014/main" id="{45E8C2E6-E86D-4145-8684-6BBBE012BD6F}"/>
              </a:ext>
            </a:extLst>
          </p:cNvPr>
          <p:cNvSpPr>
            <a:spLocks noGrp="1"/>
          </p:cNvSpPr>
          <p:nvPr/>
        </p:nvSpPr>
        <p:spPr>
          <a:xfrm>
            <a:off x="2838450" y="2390775"/>
            <a:ext cx="1562100" cy="666750"/>
          </a:xfrm>
          <a:prstGeom prst="rect">
            <a:avLst/>
          </a:prstGeom>
          <a:noFill/>
          <a:ln w="0">
            <a:noFill/>
            <a:prstDash val="solid"/>
          </a:ln>
        </p:spPr>
        <p:txBody>
          <a:bodyPr anchor="ctr">
            <a:normAutofit/>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Task DAG</a:t>
            </a:r>
          </a:p>
          <a:p>
            <a:pPr algn="ctr">
              <a:buNone/>
              <a:defRPr sz="1650" b="1">
                <a:solidFill>
                  <a:srgbClr val="111111"/>
                </a:solidFill>
                <a:latin typeface="Arial"/>
                <a:ea typeface="Arial"/>
                <a:cs typeface="Arial"/>
              </a:defRPr>
            </a:pPr>
            <a:r>
              <a:rPr sz="1650" b="1">
                <a:solidFill>
                  <a:srgbClr val="111111"/>
                </a:solidFill>
                <a:latin typeface="Arial"/>
                <a:ea typeface="Arial"/>
                <a:cs typeface="Arial"/>
              </a:rPr>
              <a:t>planning</a:t>
            </a:r>
          </a:p>
        </p:txBody>
      </p:sp>
      <p:sp>
        <p:nvSpPr>
          <p:cNvPr id="13" name="node-2">
            <a:extLst>
              <a:ext uri="{FF2B5EF4-FFF2-40B4-BE49-F238E27FC236}">
                <a16:creationId xmlns:a16="http://schemas.microsoft.com/office/drawing/2014/main" id="{BB73C52F-8281-4B3E-BFDE-8CA861394594}"/>
              </a:ext>
            </a:extLst>
          </p:cNvPr>
          <p:cNvSpPr>
            <a:spLocks noGrp="1"/>
          </p:cNvSpPr>
          <p:nvPr/>
        </p:nvSpPr>
        <p:spPr>
          <a:xfrm>
            <a:off x="5029200" y="2095500"/>
            <a:ext cx="1752600" cy="1200150"/>
          </a:xfrm>
          <a:prstGeom prst="roundRect">
            <a:avLst>
              <a:gd name="adj" fmla="val 6349"/>
            </a:avLst>
          </a:prstGeom>
          <a:solidFill>
            <a:srgbClr val="D0EDFA"/>
          </a:solidFill>
          <a:ln w="0">
            <a:noFill/>
            <a:prstDash val="solid"/>
          </a:ln>
        </p:spPr>
        <p:txBody>
          <a:bodyPr/>
          <a:lstStyle/>
          <a:p>
            <a:endParaRPr lang="en-US"/>
          </a:p>
        </p:txBody>
      </p:sp>
      <p:sp>
        <p:nvSpPr>
          <p:cNvPr id="14" name="node-text-2">
            <a:extLst>
              <a:ext uri="{FF2B5EF4-FFF2-40B4-BE49-F238E27FC236}">
                <a16:creationId xmlns:a16="http://schemas.microsoft.com/office/drawing/2014/main" id="{65305679-CF45-4890-B4C6-B10CE9046E25}"/>
              </a:ext>
            </a:extLst>
          </p:cNvPr>
          <p:cNvSpPr>
            <a:spLocks noGrp="1"/>
          </p:cNvSpPr>
          <p:nvPr/>
        </p:nvSpPr>
        <p:spPr>
          <a:xfrm>
            <a:off x="5124450" y="2390775"/>
            <a:ext cx="1562100" cy="666750"/>
          </a:xfrm>
          <a:prstGeom prst="rect">
            <a:avLst/>
          </a:prstGeom>
          <a:noFill/>
          <a:ln w="0">
            <a:noFill/>
            <a:prstDash val="solid"/>
          </a:ln>
        </p:spPr>
        <p:txBody>
          <a:bodyPr anchor="ctr">
            <a:normAutofit/>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Policy +</a:t>
            </a:r>
          </a:p>
          <a:p>
            <a:pPr algn="ctr">
              <a:buNone/>
              <a:defRPr sz="1650" b="1">
                <a:solidFill>
                  <a:srgbClr val="111111"/>
                </a:solidFill>
                <a:latin typeface="Arial"/>
                <a:ea typeface="Arial"/>
                <a:cs typeface="Arial"/>
              </a:defRPr>
            </a:pPr>
            <a:r>
              <a:rPr sz="1650" b="1">
                <a:solidFill>
                  <a:srgbClr val="111111"/>
                </a:solidFill>
                <a:latin typeface="Arial"/>
                <a:ea typeface="Arial"/>
                <a:cs typeface="Arial"/>
              </a:rPr>
              <a:t>approvals</a:t>
            </a:r>
          </a:p>
        </p:txBody>
      </p:sp>
      <p:sp>
        <p:nvSpPr>
          <p:cNvPr id="15" name="node-3">
            <a:extLst>
              <a:ext uri="{FF2B5EF4-FFF2-40B4-BE49-F238E27FC236}">
                <a16:creationId xmlns:a16="http://schemas.microsoft.com/office/drawing/2014/main" id="{5479E3A2-230B-4893-9999-BD5B6C7FEB70}"/>
              </a:ext>
            </a:extLst>
          </p:cNvPr>
          <p:cNvSpPr>
            <a:spLocks noGrp="1"/>
          </p:cNvSpPr>
          <p:nvPr/>
        </p:nvSpPr>
        <p:spPr>
          <a:xfrm>
            <a:off x="7315200" y="2095500"/>
            <a:ext cx="1752600" cy="1200150"/>
          </a:xfrm>
          <a:prstGeom prst="roundRect">
            <a:avLst>
              <a:gd name="adj" fmla="val 6349"/>
            </a:avLst>
          </a:prstGeom>
          <a:solidFill>
            <a:srgbClr val="EDEDED"/>
          </a:solidFill>
          <a:ln w="0">
            <a:noFill/>
            <a:prstDash val="solid"/>
          </a:ln>
        </p:spPr>
        <p:txBody>
          <a:bodyPr/>
          <a:lstStyle/>
          <a:p>
            <a:endParaRPr lang="en-US"/>
          </a:p>
        </p:txBody>
      </p:sp>
      <p:sp>
        <p:nvSpPr>
          <p:cNvPr id="16" name="node-text-3">
            <a:extLst>
              <a:ext uri="{FF2B5EF4-FFF2-40B4-BE49-F238E27FC236}">
                <a16:creationId xmlns:a16="http://schemas.microsoft.com/office/drawing/2014/main" id="{57BE1241-2A06-46D2-A278-223368FC742A}"/>
              </a:ext>
            </a:extLst>
          </p:cNvPr>
          <p:cNvSpPr>
            <a:spLocks noGrp="1"/>
          </p:cNvSpPr>
          <p:nvPr/>
        </p:nvSpPr>
        <p:spPr>
          <a:xfrm>
            <a:off x="7410450" y="2390775"/>
            <a:ext cx="1562100" cy="666750"/>
          </a:xfrm>
          <a:prstGeom prst="rect">
            <a:avLst/>
          </a:prstGeom>
          <a:noFill/>
          <a:ln w="0">
            <a:noFill/>
            <a:prstDash val="solid"/>
          </a:ln>
        </p:spPr>
        <p:txBody>
          <a:bodyPr anchor="ctr">
            <a:normAutofit/>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Parallel</a:t>
            </a:r>
          </a:p>
          <a:p>
            <a:pPr algn="ctr">
              <a:buNone/>
              <a:defRPr sz="1650" b="1">
                <a:solidFill>
                  <a:srgbClr val="111111"/>
                </a:solidFill>
                <a:latin typeface="Arial"/>
                <a:ea typeface="Arial"/>
                <a:cs typeface="Arial"/>
              </a:defRPr>
            </a:pPr>
            <a:r>
              <a:rPr sz="1650" b="1">
                <a:solidFill>
                  <a:srgbClr val="111111"/>
                </a:solidFill>
                <a:latin typeface="Arial"/>
                <a:ea typeface="Arial"/>
                <a:cs typeface="Arial"/>
              </a:rPr>
              <a:t>execution</a:t>
            </a:r>
          </a:p>
        </p:txBody>
      </p:sp>
      <p:sp>
        <p:nvSpPr>
          <p:cNvPr id="17" name="node-4">
            <a:extLst>
              <a:ext uri="{FF2B5EF4-FFF2-40B4-BE49-F238E27FC236}">
                <a16:creationId xmlns:a16="http://schemas.microsoft.com/office/drawing/2014/main" id="{6C439449-5B8B-4B59-A82B-B1BC4119FDC4}"/>
              </a:ext>
            </a:extLst>
          </p:cNvPr>
          <p:cNvSpPr>
            <a:spLocks noGrp="1"/>
          </p:cNvSpPr>
          <p:nvPr/>
        </p:nvSpPr>
        <p:spPr>
          <a:xfrm>
            <a:off x="9601200" y="2095500"/>
            <a:ext cx="1752600" cy="1200150"/>
          </a:xfrm>
          <a:prstGeom prst="roundRect">
            <a:avLst>
              <a:gd name="adj" fmla="val 6349"/>
            </a:avLst>
          </a:prstGeom>
          <a:solidFill>
            <a:srgbClr val="EDEDED"/>
          </a:solidFill>
          <a:ln w="0">
            <a:noFill/>
            <a:prstDash val="solid"/>
          </a:ln>
        </p:spPr>
        <p:txBody>
          <a:bodyPr/>
          <a:lstStyle/>
          <a:p>
            <a:endParaRPr lang="en-US"/>
          </a:p>
        </p:txBody>
      </p:sp>
      <p:sp>
        <p:nvSpPr>
          <p:cNvPr id="18" name="node-text-4">
            <a:extLst>
              <a:ext uri="{FF2B5EF4-FFF2-40B4-BE49-F238E27FC236}">
                <a16:creationId xmlns:a16="http://schemas.microsoft.com/office/drawing/2014/main" id="{6CB8331F-DAB9-4939-8286-A1C4FDD30894}"/>
              </a:ext>
            </a:extLst>
          </p:cNvPr>
          <p:cNvSpPr>
            <a:spLocks noGrp="1"/>
          </p:cNvSpPr>
          <p:nvPr/>
        </p:nvSpPr>
        <p:spPr>
          <a:xfrm>
            <a:off x="9696450" y="2390775"/>
            <a:ext cx="1562100" cy="666750"/>
          </a:xfrm>
          <a:prstGeom prst="rect">
            <a:avLst/>
          </a:prstGeom>
          <a:noFill/>
          <a:ln w="0">
            <a:noFill/>
            <a:prstDash val="solid"/>
          </a:ln>
        </p:spPr>
        <p:txBody>
          <a:bodyPr anchor="ctr">
            <a:normAutofit/>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Evidence +</a:t>
            </a:r>
          </a:p>
          <a:p>
            <a:pPr algn="ctr">
              <a:buNone/>
              <a:defRPr sz="1650" b="1">
                <a:solidFill>
                  <a:srgbClr val="111111"/>
                </a:solidFill>
                <a:latin typeface="Arial"/>
                <a:ea typeface="Arial"/>
                <a:cs typeface="Arial"/>
              </a:defRPr>
            </a:pPr>
            <a:r>
              <a:rPr sz="1650" b="1">
                <a:solidFill>
                  <a:srgbClr val="111111"/>
                </a:solidFill>
                <a:latin typeface="Arial"/>
                <a:ea typeface="Arial"/>
                <a:cs typeface="Arial"/>
              </a:rPr>
              <a:t>review</a:t>
            </a:r>
          </a:p>
        </p:txBody>
      </p:sp>
      <p:sp>
        <p:nvSpPr>
          <p:cNvPr id="19" name="architecture-callout">
            <a:extLst>
              <a:ext uri="{FF2B5EF4-FFF2-40B4-BE49-F238E27FC236}">
                <a16:creationId xmlns:a16="http://schemas.microsoft.com/office/drawing/2014/main" id="{3AA7760E-D8C1-4700-9AD7-AA091A49CBDD}"/>
              </a:ext>
            </a:extLst>
          </p:cNvPr>
          <p:cNvSpPr>
            <a:spLocks noGrp="1"/>
          </p:cNvSpPr>
          <p:nvPr/>
        </p:nvSpPr>
        <p:spPr>
          <a:xfrm>
            <a:off x="1619250" y="4000500"/>
            <a:ext cx="8953500" cy="952500"/>
          </a:xfrm>
          <a:prstGeom prst="rect">
            <a:avLst/>
          </a:prstGeom>
          <a:noFill/>
          <a:ln w="0">
            <a:noFill/>
            <a:prstDash val="solid"/>
          </a:ln>
        </p:spPr>
        <p:txBody>
          <a:bodyPr anchor="t">
            <a:normAutofit/>
          </a:bodyPr>
          <a:lstStyle/>
          <a:p>
            <a:pPr algn="ctr">
              <a:buNone/>
              <a:defRPr sz="2025" b="0">
                <a:solidFill>
                  <a:srgbClr val="111111"/>
                </a:solidFill>
                <a:latin typeface="Arial"/>
                <a:ea typeface="Arial"/>
                <a:cs typeface="Arial"/>
              </a:defRPr>
            </a:pPr>
            <a:r>
              <a:rPr sz="2025" b="0">
                <a:solidFill>
                  <a:srgbClr val="111111"/>
                </a:solidFill>
                <a:latin typeface="Arial"/>
                <a:ea typeface="Arial"/>
                <a:cs typeface="Arial"/>
              </a:rPr>
              <a:t>The workflow service owns state transitions. The policy engine can allow, require approval, or deny—agents cannot override it.</a:t>
            </a:r>
          </a:p>
        </p:txBody>
      </p:sp>
      <p:sp>
        <p:nvSpPr>
          <p:cNvPr id="20" name="architecture-foot">
            <a:extLst>
              <a:ext uri="{FF2B5EF4-FFF2-40B4-BE49-F238E27FC236}">
                <a16:creationId xmlns:a16="http://schemas.microsoft.com/office/drawing/2014/main" id="{C444E404-17A4-4973-BC78-1947B8A0A189}"/>
              </a:ext>
            </a:extLst>
          </p:cNvPr>
          <p:cNvSpPr>
            <a:spLocks noGrp="1"/>
          </p:cNvSpPr>
          <p:nvPr/>
        </p:nvSpPr>
        <p:spPr>
          <a:xfrm>
            <a:off x="1619250" y="5381625"/>
            <a:ext cx="8953500" cy="400050"/>
          </a:xfrm>
          <a:prstGeom prst="rect">
            <a:avLst/>
          </a:prstGeom>
          <a:noFill/>
          <a:ln w="0">
            <a:noFill/>
            <a:prstDash val="solid"/>
          </a:ln>
        </p:spPr>
        <p:txBody>
          <a:bodyPr anchor="t">
            <a:normAutofit/>
          </a:bodyPr>
          <a:lstStyle/>
          <a:p>
            <a:pPr algn="ctr">
              <a:buNone/>
              <a:defRPr sz="1500" b="0">
                <a:solidFill>
                  <a:srgbClr val="60646C"/>
                </a:solidFill>
                <a:latin typeface="Arial"/>
                <a:ea typeface="Arial"/>
                <a:cs typeface="Arial"/>
              </a:defRPr>
            </a:pPr>
            <a:r>
              <a:rPr sz="1500" b="0">
                <a:solidFill>
                  <a:srgbClr val="60646C"/>
                </a:solidFill>
                <a:latin typeface="Arial"/>
                <a:ea typeface="Arial"/>
                <a:cs typeface="Arial"/>
              </a:rPr>
              <a:t>Filesystem snapshots + append-only events + command digests preserve context and decision lineage</a:t>
            </a:r>
          </a:p>
        </p:txBody>
      </p:sp>
    </p:spTree>
    <p:extLst>
      <p:ext uri="{BB962C8B-B14F-4D97-AF65-F5344CB8AC3E}">
        <p14:creationId xmlns:p14="http://schemas.microsoft.com/office/powerpoint/2010/main" val="378642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eyebrow-4">
            <a:extLst>
              <a:ext uri="{FF2B5EF4-FFF2-40B4-BE49-F238E27FC236}">
                <a16:creationId xmlns:a16="http://schemas.microsoft.com/office/drawing/2014/main" id="{28C3C979-EBBF-4BD7-A763-F9A49B3AF143}"/>
              </a:ext>
            </a:extLst>
          </p:cNvPr>
          <p:cNvSpPr>
            <a:spLocks noGrp="1"/>
          </p:cNvSpPr>
          <p:nvPr/>
        </p:nvSpPr>
        <p:spPr>
          <a:xfrm>
            <a:off x="457200" y="266700"/>
            <a:ext cx="4762500" cy="266700"/>
          </a:xfrm>
          <a:prstGeom prst="rect">
            <a:avLst/>
          </a:prstGeom>
          <a:noFill/>
          <a:ln w="0">
            <a:noFill/>
            <a:prstDash val="solid"/>
          </a:ln>
        </p:spPr>
        <p:txBody>
          <a:bodyPr anchor="t">
            <a:normAutofit fontScale="95833"/>
          </a:bodyPr>
          <a:lstStyle/>
          <a:p>
            <a:pPr algn="l">
              <a:buNone/>
              <a:defRPr sz="1200" b="1">
                <a:solidFill>
                  <a:srgbClr val="60646C"/>
                </a:solidFill>
                <a:latin typeface="Arial"/>
                <a:ea typeface="Arial"/>
                <a:cs typeface="Arial"/>
              </a:defRPr>
            </a:pPr>
            <a:r>
              <a:rPr sz="1200" b="1">
                <a:solidFill>
                  <a:srgbClr val="60646C"/>
                </a:solidFill>
                <a:latin typeface="Arial"/>
                <a:ea typeface="Arial"/>
                <a:cs typeface="Arial"/>
              </a:rPr>
              <a:t>TINYURL · AGENTIC SDLC</a:t>
            </a:r>
          </a:p>
        </p:txBody>
      </p:sp>
      <p:sp>
        <p:nvSpPr>
          <p:cNvPr id="2" name="title-4">
            <a:extLst>
              <a:ext uri="{FF2B5EF4-FFF2-40B4-BE49-F238E27FC236}">
                <a16:creationId xmlns:a16="http://schemas.microsoft.com/office/drawing/2014/main" id="{BC74CE9D-2CA3-424B-ABCE-1CC37C799C52}"/>
              </a:ext>
            </a:extLst>
          </p:cNvPr>
          <p:cNvSpPr>
            <a:spLocks noGrp="1"/>
          </p:cNvSpPr>
          <p:nvPr/>
        </p:nvSpPr>
        <p:spPr>
          <a:xfrm>
            <a:off x="457200" y="647700"/>
            <a:ext cx="11277600" cy="685800"/>
          </a:xfrm>
          <a:prstGeom prst="rect">
            <a:avLst/>
          </a:prstGeom>
          <a:noFill/>
          <a:ln w="0">
            <a:noFill/>
            <a:prstDash val="solid"/>
          </a:ln>
        </p:spPr>
        <p:txBody>
          <a:bodyPr anchor="t">
            <a:normAutofit/>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Autonomy is explicit, scoped, and reversible</a:t>
            </a:r>
          </a:p>
        </p:txBody>
      </p:sp>
      <p:sp>
        <p:nvSpPr>
          <p:cNvPr id="3" name="rule-4">
            <a:extLst>
              <a:ext uri="{FF2B5EF4-FFF2-40B4-BE49-F238E27FC236}">
                <a16:creationId xmlns:a16="http://schemas.microsoft.com/office/drawing/2014/main" id="{8BDD7A26-BFA1-41BC-A19A-F24545326D09}"/>
              </a:ext>
            </a:extLst>
          </p:cNvPr>
          <p:cNvSpPr>
            <a:spLocks noGrp="1"/>
          </p:cNvSpPr>
          <p:nvPr/>
        </p:nvSpPr>
        <p:spPr>
          <a:xfrm>
            <a:off x="457200" y="1409700"/>
            <a:ext cx="11277600" cy="19050"/>
          </a:xfrm>
          <a:prstGeom prst="rect">
            <a:avLst/>
          </a:prstGeom>
          <a:solidFill>
            <a:srgbClr val="B8BCC4"/>
          </a:solidFill>
          <a:ln w="0">
            <a:noFill/>
            <a:prstDash val="solid"/>
          </a:ln>
        </p:spPr>
        <p:txBody>
          <a:bodyPr/>
          <a:lstStyle/>
          <a:p>
            <a:endParaRPr lang="en-US"/>
          </a:p>
        </p:txBody>
      </p:sp>
      <p:sp>
        <p:nvSpPr>
          <p:cNvPr id="4" name="page-4">
            <a:extLst>
              <a:ext uri="{FF2B5EF4-FFF2-40B4-BE49-F238E27FC236}">
                <a16:creationId xmlns:a16="http://schemas.microsoft.com/office/drawing/2014/main" id="{C305749D-F77A-4EB4-87FB-32720A2379B5}"/>
              </a:ext>
            </a:extLst>
          </p:cNvPr>
          <p:cNvSpPr>
            <a:spLocks noGrp="1"/>
          </p:cNvSpPr>
          <p:nvPr/>
        </p:nvSpPr>
        <p:spPr>
          <a:xfrm>
            <a:off x="11191875" y="6438900"/>
            <a:ext cx="523875" cy="209550"/>
          </a:xfrm>
          <a:prstGeom prst="rect">
            <a:avLst/>
          </a:prstGeom>
          <a:noFill/>
          <a:ln w="0">
            <a:noFill/>
            <a:prstDash val="solid"/>
          </a:ln>
        </p:spPr>
        <p:txBody>
          <a:bodyPr anchor="t">
            <a:normAutofit fontScale="73809"/>
          </a:bodyPr>
          <a:lstStyle/>
          <a:p>
            <a:pPr algn="r">
              <a:buNone/>
              <a:defRPr sz="1050" b="0">
                <a:solidFill>
                  <a:srgbClr val="60646C"/>
                </a:solidFill>
                <a:latin typeface="Arial"/>
                <a:ea typeface="Arial"/>
                <a:cs typeface="Arial"/>
              </a:defRPr>
            </a:pPr>
            <a:r>
              <a:rPr sz="1050" b="0">
                <a:solidFill>
                  <a:srgbClr val="60646C"/>
                </a:solidFill>
                <a:latin typeface="Arial"/>
                <a:ea typeface="Arial"/>
                <a:cs typeface="Arial"/>
              </a:rPr>
              <a:t>4</a:t>
            </a:r>
          </a:p>
        </p:txBody>
      </p:sp>
      <p:sp>
        <p:nvSpPr>
          <p:cNvPr id="5" name="auto-panel-0">
            <a:extLst>
              <a:ext uri="{FF2B5EF4-FFF2-40B4-BE49-F238E27FC236}">
                <a16:creationId xmlns:a16="http://schemas.microsoft.com/office/drawing/2014/main" id="{551BAD9C-2BE4-4F4E-A3DB-4557909063D8}"/>
              </a:ext>
            </a:extLst>
          </p:cNvPr>
          <p:cNvSpPr>
            <a:spLocks noGrp="1"/>
          </p:cNvSpPr>
          <p:nvPr/>
        </p:nvSpPr>
        <p:spPr>
          <a:xfrm>
            <a:off x="457200" y="1857375"/>
            <a:ext cx="3200400" cy="3714750"/>
          </a:xfrm>
          <a:prstGeom prst="roundRect">
            <a:avLst>
              <a:gd name="adj" fmla="val 2381"/>
            </a:avLst>
          </a:prstGeom>
          <a:solidFill>
            <a:srgbClr val="D0EDFA"/>
          </a:solidFill>
          <a:ln w="0">
            <a:noFill/>
            <a:prstDash val="solid"/>
          </a:ln>
        </p:spPr>
        <p:txBody>
          <a:bodyPr/>
          <a:lstStyle/>
          <a:p>
            <a:endParaRPr lang="en-US"/>
          </a:p>
        </p:txBody>
      </p:sp>
      <p:sp>
        <p:nvSpPr>
          <p:cNvPr id="6" name="auto-title-0">
            <a:extLst>
              <a:ext uri="{FF2B5EF4-FFF2-40B4-BE49-F238E27FC236}">
                <a16:creationId xmlns:a16="http://schemas.microsoft.com/office/drawing/2014/main" id="{C3EF82E0-B589-483A-B565-8B73C44A6A6A}"/>
              </a:ext>
            </a:extLst>
          </p:cNvPr>
          <p:cNvSpPr>
            <a:spLocks noGrp="1"/>
          </p:cNvSpPr>
          <p:nvPr/>
        </p:nvSpPr>
        <p:spPr>
          <a:xfrm>
            <a:off x="723900" y="2143125"/>
            <a:ext cx="2667000" cy="361950"/>
          </a:xfrm>
          <a:prstGeom prst="rect">
            <a:avLst/>
          </a:prstGeom>
          <a:noFill/>
          <a:ln w="0">
            <a:noFill/>
            <a:prstDash val="solid"/>
          </a:ln>
        </p:spPr>
        <p:txBody>
          <a:bodyPr anchor="t">
            <a:normAutofit/>
          </a:bodyPr>
          <a:lstStyle/>
          <a:p>
            <a:pPr algn="l">
              <a:buNone/>
              <a:defRPr sz="1725" b="1">
                <a:solidFill>
                  <a:srgbClr val="111111"/>
                </a:solidFill>
                <a:latin typeface="Arial"/>
                <a:ea typeface="Arial"/>
                <a:cs typeface="Arial"/>
              </a:defRPr>
            </a:pPr>
            <a:r>
              <a:rPr sz="1725" b="1">
                <a:solidFill>
                  <a:srgbClr val="111111"/>
                </a:solidFill>
                <a:latin typeface="Arial"/>
                <a:ea typeface="Arial"/>
                <a:cs typeface="Arial"/>
              </a:rPr>
              <a:t>AUTOMATIC</a:t>
            </a:r>
          </a:p>
        </p:txBody>
      </p:sp>
      <p:sp>
        <p:nvSpPr>
          <p:cNvPr id="7" name="auto-body-0">
            <a:extLst>
              <a:ext uri="{FF2B5EF4-FFF2-40B4-BE49-F238E27FC236}">
                <a16:creationId xmlns:a16="http://schemas.microsoft.com/office/drawing/2014/main" id="{D04D5D59-1C1E-4AB0-B3A7-16895883E6CE}"/>
              </a:ext>
            </a:extLst>
          </p:cNvPr>
          <p:cNvSpPr>
            <a:spLocks noGrp="1"/>
          </p:cNvSpPr>
          <p:nvPr/>
        </p:nvSpPr>
        <p:spPr>
          <a:xfrm>
            <a:off x="723900" y="2809875"/>
            <a:ext cx="2667000" cy="2095500"/>
          </a:xfrm>
          <a:prstGeom prst="rect">
            <a:avLst/>
          </a:prstGeom>
          <a:noFill/>
          <a:ln w="0">
            <a:noFill/>
            <a:prstDash val="solid"/>
          </a:ln>
        </p:spPr>
        <p:txBody>
          <a:bodyPr anchor="t">
            <a:normAutofit/>
          </a:bodyPr>
          <a:lstStyle/>
          <a:p>
            <a:pPr algn="l">
              <a:buNone/>
              <a:defRPr sz="1800" b="0">
                <a:solidFill>
                  <a:srgbClr val="60646C"/>
                </a:solidFill>
                <a:latin typeface="Arial"/>
                <a:ea typeface="Arial"/>
                <a:cs typeface="Arial"/>
              </a:defRPr>
            </a:pPr>
            <a:r>
              <a:rPr sz="1800" b="0">
                <a:solidFill>
                  <a:srgbClr val="60646C"/>
                </a:solidFill>
                <a:latin typeface="Arial"/>
                <a:ea typeface="Arial"/>
                <a:cs typeface="Arial"/>
              </a:rPr>
              <a:t>Inspect repository</a:t>
            </a:r>
          </a:p>
          <a:p>
            <a:pPr algn="l">
              <a:buNone/>
              <a:defRPr sz="1800" b="0">
                <a:solidFill>
                  <a:srgbClr val="60646C"/>
                </a:solidFill>
                <a:latin typeface="Arial"/>
                <a:ea typeface="Arial"/>
                <a:cs typeface="Arial"/>
              </a:defRPr>
            </a:pPr>
            <a:r>
              <a:rPr sz="1800" b="0">
                <a:solidFill>
                  <a:srgbClr val="60646C"/>
                </a:solidFill>
                <a:latin typeface="Arial"/>
                <a:ea typeface="Arial"/>
                <a:cs typeface="Arial"/>
              </a:rPr>
              <a:t>Analyze requirement</a:t>
            </a:r>
          </a:p>
          <a:p>
            <a:pPr algn="l">
              <a:buNone/>
              <a:defRPr sz="1800" b="0">
                <a:solidFill>
                  <a:srgbClr val="60646C"/>
                </a:solidFill>
                <a:latin typeface="Arial"/>
                <a:ea typeface="Arial"/>
                <a:cs typeface="Arial"/>
              </a:defRPr>
            </a:pPr>
            <a:r>
              <a:rPr sz="1800" b="0">
                <a:solidFill>
                  <a:srgbClr val="60646C"/>
                </a:solidFill>
                <a:latin typeface="Arial"/>
                <a:ea typeface="Arial"/>
                <a:cs typeface="Arial"/>
              </a:rPr>
              <a:t>Create plan</a:t>
            </a:r>
          </a:p>
          <a:p>
            <a:pPr algn="l">
              <a:buNone/>
              <a:defRPr sz="1800" b="0">
                <a:solidFill>
                  <a:srgbClr val="60646C"/>
                </a:solidFill>
                <a:latin typeface="Arial"/>
                <a:ea typeface="Arial"/>
                <a:cs typeface="Arial"/>
              </a:defRPr>
            </a:pPr>
            <a:r>
              <a:rPr sz="1800" b="0">
                <a:solidFill>
                  <a:srgbClr val="60646C"/>
                </a:solidFill>
                <a:latin typeface="Arial"/>
                <a:ea typeface="Arial"/>
                <a:cs typeface="Arial"/>
              </a:rPr>
              <a:t>Edit feature code</a:t>
            </a:r>
          </a:p>
          <a:p>
            <a:pPr algn="l">
              <a:buNone/>
              <a:defRPr sz="1800" b="0">
                <a:solidFill>
                  <a:srgbClr val="60646C"/>
                </a:solidFill>
                <a:latin typeface="Arial"/>
                <a:ea typeface="Arial"/>
                <a:cs typeface="Arial"/>
              </a:defRPr>
            </a:pPr>
            <a:r>
              <a:rPr sz="1800" b="0">
                <a:solidFill>
                  <a:srgbClr val="60646C"/>
                </a:solidFill>
                <a:latin typeface="Arial"/>
                <a:ea typeface="Arial"/>
                <a:cs typeface="Arial"/>
              </a:rPr>
              <a:t>Generate and run tests</a:t>
            </a:r>
          </a:p>
        </p:txBody>
      </p:sp>
      <p:sp>
        <p:nvSpPr>
          <p:cNvPr id="8" name="auto-panel-1">
            <a:extLst>
              <a:ext uri="{FF2B5EF4-FFF2-40B4-BE49-F238E27FC236}">
                <a16:creationId xmlns:a16="http://schemas.microsoft.com/office/drawing/2014/main" id="{3C1D7E1F-D61D-410D-B6E5-A6A8FF7E5BDE}"/>
              </a:ext>
            </a:extLst>
          </p:cNvPr>
          <p:cNvSpPr>
            <a:spLocks noGrp="1"/>
          </p:cNvSpPr>
          <p:nvPr/>
        </p:nvSpPr>
        <p:spPr>
          <a:xfrm>
            <a:off x="4267200" y="1857375"/>
            <a:ext cx="3200400" cy="3714750"/>
          </a:xfrm>
          <a:prstGeom prst="roundRect">
            <a:avLst>
              <a:gd name="adj" fmla="val 2381"/>
            </a:avLst>
          </a:prstGeom>
          <a:solidFill>
            <a:srgbClr val="EDEDED"/>
          </a:solidFill>
          <a:ln w="0">
            <a:noFill/>
            <a:prstDash val="solid"/>
          </a:ln>
        </p:spPr>
        <p:txBody>
          <a:bodyPr/>
          <a:lstStyle/>
          <a:p>
            <a:endParaRPr lang="en-US"/>
          </a:p>
        </p:txBody>
      </p:sp>
      <p:sp>
        <p:nvSpPr>
          <p:cNvPr id="9" name="auto-title-1">
            <a:extLst>
              <a:ext uri="{FF2B5EF4-FFF2-40B4-BE49-F238E27FC236}">
                <a16:creationId xmlns:a16="http://schemas.microsoft.com/office/drawing/2014/main" id="{9F427F6E-F9E2-4BC4-B00F-3615CF607D5B}"/>
              </a:ext>
            </a:extLst>
          </p:cNvPr>
          <p:cNvSpPr>
            <a:spLocks noGrp="1"/>
          </p:cNvSpPr>
          <p:nvPr/>
        </p:nvSpPr>
        <p:spPr>
          <a:xfrm>
            <a:off x="4533900" y="2143125"/>
            <a:ext cx="2667000" cy="361950"/>
          </a:xfrm>
          <a:prstGeom prst="rect">
            <a:avLst/>
          </a:prstGeom>
          <a:noFill/>
          <a:ln w="0">
            <a:noFill/>
            <a:prstDash val="solid"/>
          </a:ln>
        </p:spPr>
        <p:txBody>
          <a:bodyPr anchor="t">
            <a:normAutofit/>
          </a:bodyPr>
          <a:lstStyle/>
          <a:p>
            <a:pPr algn="l">
              <a:buNone/>
              <a:defRPr sz="1725" b="1">
                <a:solidFill>
                  <a:srgbClr val="111111"/>
                </a:solidFill>
                <a:latin typeface="Arial"/>
                <a:ea typeface="Arial"/>
                <a:cs typeface="Arial"/>
              </a:defRPr>
            </a:pPr>
            <a:r>
              <a:rPr sz="1725" b="1">
                <a:solidFill>
                  <a:srgbClr val="111111"/>
                </a:solidFill>
                <a:latin typeface="Arial"/>
                <a:ea typeface="Arial"/>
                <a:cs typeface="Arial"/>
              </a:rPr>
              <a:t>HUMAN APPROVAL</a:t>
            </a:r>
          </a:p>
        </p:txBody>
      </p:sp>
      <p:sp>
        <p:nvSpPr>
          <p:cNvPr id="10" name="auto-body-1">
            <a:extLst>
              <a:ext uri="{FF2B5EF4-FFF2-40B4-BE49-F238E27FC236}">
                <a16:creationId xmlns:a16="http://schemas.microsoft.com/office/drawing/2014/main" id="{AD56EDD1-DA2D-4DC0-9AE5-1CBAB27B7BD2}"/>
              </a:ext>
            </a:extLst>
          </p:cNvPr>
          <p:cNvSpPr>
            <a:spLocks noGrp="1"/>
          </p:cNvSpPr>
          <p:nvPr/>
        </p:nvSpPr>
        <p:spPr>
          <a:xfrm>
            <a:off x="4533900" y="2809875"/>
            <a:ext cx="2667000" cy="2095500"/>
          </a:xfrm>
          <a:prstGeom prst="rect">
            <a:avLst/>
          </a:prstGeom>
          <a:noFill/>
          <a:ln w="0">
            <a:noFill/>
            <a:prstDash val="solid"/>
          </a:ln>
        </p:spPr>
        <p:txBody>
          <a:bodyPr anchor="t">
            <a:normAutofit/>
          </a:bodyPr>
          <a:lstStyle/>
          <a:p>
            <a:pPr algn="l">
              <a:buNone/>
              <a:defRPr sz="1800" b="0">
                <a:solidFill>
                  <a:srgbClr val="60646C"/>
                </a:solidFill>
                <a:latin typeface="Arial"/>
                <a:ea typeface="Arial"/>
                <a:cs typeface="Arial"/>
              </a:defRPr>
            </a:pPr>
            <a:r>
              <a:rPr sz="1800" b="0">
                <a:solidFill>
                  <a:srgbClr val="60646C"/>
                </a:solidFill>
                <a:latin typeface="Arial"/>
                <a:ea typeface="Arial"/>
                <a:cs typeface="Arial"/>
              </a:rPr>
              <a:t>Change public API</a:t>
            </a:r>
          </a:p>
          <a:p>
            <a:pPr algn="l">
              <a:buNone/>
              <a:defRPr sz="1800" b="0">
                <a:solidFill>
                  <a:srgbClr val="60646C"/>
                </a:solidFill>
                <a:latin typeface="Arial"/>
                <a:ea typeface="Arial"/>
                <a:cs typeface="Arial"/>
              </a:defRPr>
            </a:pPr>
            <a:r>
              <a:rPr sz="1800" b="0">
                <a:solidFill>
                  <a:srgbClr val="60646C"/>
                </a:solidFill>
                <a:latin typeface="Arial"/>
                <a:ea typeface="Arial"/>
                <a:cs typeface="Arial"/>
              </a:rPr>
              <a:t>Modify database schema</a:t>
            </a:r>
          </a:p>
          <a:p>
            <a:pPr algn="l">
              <a:buNone/>
              <a:defRPr sz="1800" b="0">
                <a:solidFill>
                  <a:srgbClr val="60646C"/>
                </a:solidFill>
                <a:latin typeface="Arial"/>
                <a:ea typeface="Arial"/>
                <a:cs typeface="Arial"/>
              </a:defRPr>
            </a:pPr>
            <a:r>
              <a:rPr sz="1800" b="0">
                <a:solidFill>
                  <a:srgbClr val="60646C"/>
                </a:solidFill>
                <a:latin typeface="Arial"/>
                <a:ea typeface="Arial"/>
                <a:cs typeface="Arial"/>
              </a:rPr>
              <a:t>Commit or push changes</a:t>
            </a:r>
          </a:p>
          <a:p>
            <a:pPr algn="l">
              <a:buNone/>
              <a:defRPr sz="1800" b="0">
                <a:solidFill>
                  <a:srgbClr val="60646C"/>
                </a:solidFill>
                <a:latin typeface="Arial"/>
                <a:ea typeface="Arial"/>
                <a:cs typeface="Arial"/>
              </a:defRPr>
            </a:pPr>
            <a:r>
              <a:rPr sz="1800" b="0">
                <a:solidFill>
                  <a:srgbClr val="60646C"/>
                </a:solidFill>
                <a:latin typeface="Arial"/>
                <a:ea typeface="Arial"/>
                <a:cs typeface="Arial"/>
              </a:rPr>
              <a:t>Deploy</a:t>
            </a:r>
          </a:p>
        </p:txBody>
      </p:sp>
      <p:sp>
        <p:nvSpPr>
          <p:cNvPr id="11" name="auto-panel-2">
            <a:extLst>
              <a:ext uri="{FF2B5EF4-FFF2-40B4-BE49-F238E27FC236}">
                <a16:creationId xmlns:a16="http://schemas.microsoft.com/office/drawing/2014/main" id="{C7B8E00A-C652-498D-B551-BF625EBC5CD3}"/>
              </a:ext>
            </a:extLst>
          </p:cNvPr>
          <p:cNvSpPr>
            <a:spLocks noGrp="1"/>
          </p:cNvSpPr>
          <p:nvPr/>
        </p:nvSpPr>
        <p:spPr>
          <a:xfrm>
            <a:off x="8077200" y="1857375"/>
            <a:ext cx="3200400" cy="3714750"/>
          </a:xfrm>
          <a:prstGeom prst="roundRect">
            <a:avLst>
              <a:gd name="adj" fmla="val 2381"/>
            </a:avLst>
          </a:prstGeom>
          <a:solidFill>
            <a:srgbClr val="F4DADA"/>
          </a:solidFill>
          <a:ln w="0">
            <a:noFill/>
            <a:prstDash val="solid"/>
          </a:ln>
        </p:spPr>
        <p:txBody>
          <a:bodyPr/>
          <a:lstStyle/>
          <a:p>
            <a:endParaRPr lang="en-US"/>
          </a:p>
        </p:txBody>
      </p:sp>
      <p:sp>
        <p:nvSpPr>
          <p:cNvPr id="12" name="auto-title-2">
            <a:extLst>
              <a:ext uri="{FF2B5EF4-FFF2-40B4-BE49-F238E27FC236}">
                <a16:creationId xmlns:a16="http://schemas.microsoft.com/office/drawing/2014/main" id="{4798D16E-5991-4391-9188-8539A33E66EF}"/>
              </a:ext>
            </a:extLst>
          </p:cNvPr>
          <p:cNvSpPr>
            <a:spLocks noGrp="1"/>
          </p:cNvSpPr>
          <p:nvPr/>
        </p:nvSpPr>
        <p:spPr>
          <a:xfrm>
            <a:off x="8343900" y="2143125"/>
            <a:ext cx="2667000" cy="361950"/>
          </a:xfrm>
          <a:prstGeom prst="rect">
            <a:avLst/>
          </a:prstGeom>
          <a:noFill/>
          <a:ln w="0">
            <a:noFill/>
            <a:prstDash val="solid"/>
          </a:ln>
        </p:spPr>
        <p:txBody>
          <a:bodyPr anchor="t">
            <a:normAutofit/>
          </a:bodyPr>
          <a:lstStyle/>
          <a:p>
            <a:pPr algn="l">
              <a:buNone/>
              <a:defRPr sz="1725" b="1">
                <a:solidFill>
                  <a:srgbClr val="C43B3B"/>
                </a:solidFill>
                <a:latin typeface="Arial"/>
                <a:ea typeface="Arial"/>
                <a:cs typeface="Arial"/>
              </a:defRPr>
            </a:pPr>
            <a:r>
              <a:rPr sz="1725" b="1">
                <a:solidFill>
                  <a:srgbClr val="C43B3B"/>
                </a:solidFill>
                <a:latin typeface="Arial"/>
                <a:ea typeface="Arial"/>
                <a:cs typeface="Arial"/>
              </a:rPr>
              <a:t>PROHIBITED</a:t>
            </a:r>
          </a:p>
        </p:txBody>
      </p:sp>
      <p:sp>
        <p:nvSpPr>
          <p:cNvPr id="13" name="auto-body-2">
            <a:extLst>
              <a:ext uri="{FF2B5EF4-FFF2-40B4-BE49-F238E27FC236}">
                <a16:creationId xmlns:a16="http://schemas.microsoft.com/office/drawing/2014/main" id="{E5EC0DF6-C6FC-4C8A-B0CC-0B4DE4983B82}"/>
              </a:ext>
            </a:extLst>
          </p:cNvPr>
          <p:cNvSpPr>
            <a:spLocks noGrp="1"/>
          </p:cNvSpPr>
          <p:nvPr/>
        </p:nvSpPr>
        <p:spPr>
          <a:xfrm>
            <a:off x="8343900" y="2809875"/>
            <a:ext cx="2667000" cy="2095500"/>
          </a:xfrm>
          <a:prstGeom prst="rect">
            <a:avLst/>
          </a:prstGeom>
          <a:noFill/>
          <a:ln w="0">
            <a:noFill/>
            <a:prstDash val="solid"/>
          </a:ln>
        </p:spPr>
        <p:txBody>
          <a:bodyPr anchor="t">
            <a:normAutofit/>
          </a:bodyPr>
          <a:lstStyle/>
          <a:p>
            <a:pPr algn="l">
              <a:buNone/>
              <a:defRPr sz="1800" b="0">
                <a:solidFill>
                  <a:srgbClr val="60646C"/>
                </a:solidFill>
                <a:latin typeface="Arial"/>
                <a:ea typeface="Arial"/>
                <a:cs typeface="Arial"/>
              </a:defRPr>
            </a:pPr>
            <a:r>
              <a:rPr sz="1800" b="0">
                <a:solidFill>
                  <a:srgbClr val="60646C"/>
                </a:solidFill>
                <a:latin typeface="Arial"/>
                <a:ea typeface="Arial"/>
                <a:cs typeface="Arial"/>
              </a:rPr>
              <a:t>Force push</a:t>
            </a:r>
          </a:p>
          <a:p>
            <a:pPr algn="l">
              <a:buNone/>
              <a:defRPr sz="1800" b="0">
                <a:solidFill>
                  <a:srgbClr val="60646C"/>
                </a:solidFill>
                <a:latin typeface="Arial"/>
                <a:ea typeface="Arial"/>
                <a:cs typeface="Arial"/>
              </a:defRPr>
            </a:pPr>
            <a:r>
              <a:rPr sz="1800" b="0">
                <a:solidFill>
                  <a:srgbClr val="60646C"/>
                </a:solidFill>
                <a:latin typeface="Arial"/>
                <a:ea typeface="Arial"/>
                <a:cs typeface="Arial"/>
              </a:rPr>
              <a:t>Modify production data</a:t>
            </a:r>
          </a:p>
          <a:p>
            <a:pPr algn="l">
              <a:buNone/>
              <a:defRPr sz="1800" b="0">
                <a:solidFill>
                  <a:srgbClr val="60646C"/>
                </a:solidFill>
                <a:latin typeface="Arial"/>
                <a:ea typeface="Arial"/>
                <a:cs typeface="Arial"/>
              </a:defRPr>
            </a:pPr>
            <a:r>
              <a:rPr sz="1800" b="0">
                <a:solidFill>
                  <a:srgbClr val="60646C"/>
                </a:solidFill>
                <a:latin typeface="Arial"/>
                <a:ea typeface="Arial"/>
                <a:cs typeface="Arial"/>
              </a:rPr>
              <a:t>Bypass failed validation</a:t>
            </a:r>
          </a:p>
          <a:p>
            <a:pPr algn="l">
              <a:buNone/>
              <a:defRPr sz="1800" b="0">
                <a:solidFill>
                  <a:srgbClr val="60646C"/>
                </a:solidFill>
                <a:latin typeface="Arial"/>
                <a:ea typeface="Arial"/>
                <a:cs typeface="Arial"/>
              </a:defRPr>
            </a:pPr>
            <a:r>
              <a:rPr sz="1800" b="0">
                <a:solidFill>
                  <a:srgbClr val="60646C"/>
                </a:solidFill>
                <a:latin typeface="Arial"/>
                <a:ea typeface="Arial"/>
                <a:cs typeface="Arial"/>
              </a:rPr>
              <a:t>Execute without approval</a:t>
            </a:r>
          </a:p>
        </p:txBody>
      </p:sp>
    </p:spTree>
    <p:extLst>
      <p:ext uri="{BB962C8B-B14F-4D97-AF65-F5344CB8AC3E}">
        <p14:creationId xmlns:p14="http://schemas.microsoft.com/office/powerpoint/2010/main" val="367859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eyebrow-5">
            <a:extLst>
              <a:ext uri="{FF2B5EF4-FFF2-40B4-BE49-F238E27FC236}">
                <a16:creationId xmlns:a16="http://schemas.microsoft.com/office/drawing/2014/main" id="{5116FD48-23E7-4D3A-A31E-BDB830144C7A}"/>
              </a:ext>
            </a:extLst>
          </p:cNvPr>
          <p:cNvSpPr>
            <a:spLocks noGrp="1"/>
          </p:cNvSpPr>
          <p:nvPr/>
        </p:nvSpPr>
        <p:spPr>
          <a:xfrm>
            <a:off x="457200" y="266700"/>
            <a:ext cx="4762500" cy="266700"/>
          </a:xfrm>
          <a:prstGeom prst="rect">
            <a:avLst/>
          </a:prstGeom>
          <a:noFill/>
          <a:ln w="0">
            <a:noFill/>
            <a:prstDash val="solid"/>
          </a:ln>
        </p:spPr>
        <p:txBody>
          <a:bodyPr anchor="t">
            <a:normAutofit fontScale="95833"/>
          </a:bodyPr>
          <a:lstStyle/>
          <a:p>
            <a:pPr algn="l">
              <a:buNone/>
              <a:defRPr sz="1200" b="1">
                <a:solidFill>
                  <a:srgbClr val="60646C"/>
                </a:solidFill>
                <a:latin typeface="Arial"/>
                <a:ea typeface="Arial"/>
                <a:cs typeface="Arial"/>
              </a:defRPr>
            </a:pPr>
            <a:r>
              <a:rPr sz="1200" b="1">
                <a:solidFill>
                  <a:srgbClr val="60646C"/>
                </a:solidFill>
                <a:latin typeface="Arial"/>
                <a:ea typeface="Arial"/>
                <a:cs typeface="Arial"/>
              </a:rPr>
              <a:t>TINYURL · AGENTIC SDLC</a:t>
            </a:r>
          </a:p>
        </p:txBody>
      </p:sp>
      <p:sp>
        <p:nvSpPr>
          <p:cNvPr id="2" name="title-5">
            <a:extLst>
              <a:ext uri="{FF2B5EF4-FFF2-40B4-BE49-F238E27FC236}">
                <a16:creationId xmlns:a16="http://schemas.microsoft.com/office/drawing/2014/main" id="{25A017E8-BC07-4BAD-AD1B-E131DE7756EE}"/>
              </a:ext>
            </a:extLst>
          </p:cNvPr>
          <p:cNvSpPr>
            <a:spLocks noGrp="1"/>
          </p:cNvSpPr>
          <p:nvPr/>
        </p:nvSpPr>
        <p:spPr>
          <a:xfrm>
            <a:off x="457200" y="647700"/>
            <a:ext cx="11277600" cy="685800"/>
          </a:xfrm>
          <a:prstGeom prst="rect">
            <a:avLst/>
          </a:prstGeom>
          <a:noFill/>
          <a:ln w="0">
            <a:noFill/>
            <a:prstDash val="solid"/>
          </a:ln>
        </p:spPr>
        <p:txBody>
          <a:bodyPr anchor="t">
            <a:normAutofit/>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Three scenarios demonstrate different orchestration behavior</a:t>
            </a:r>
          </a:p>
        </p:txBody>
      </p:sp>
      <p:sp>
        <p:nvSpPr>
          <p:cNvPr id="3" name="rule-5">
            <a:extLst>
              <a:ext uri="{FF2B5EF4-FFF2-40B4-BE49-F238E27FC236}">
                <a16:creationId xmlns:a16="http://schemas.microsoft.com/office/drawing/2014/main" id="{9DECC75E-CC7C-4CC3-A489-EEA9159DE9E7}"/>
              </a:ext>
            </a:extLst>
          </p:cNvPr>
          <p:cNvSpPr>
            <a:spLocks noGrp="1"/>
          </p:cNvSpPr>
          <p:nvPr/>
        </p:nvSpPr>
        <p:spPr>
          <a:xfrm>
            <a:off x="457200" y="1409700"/>
            <a:ext cx="11277600" cy="19050"/>
          </a:xfrm>
          <a:prstGeom prst="rect">
            <a:avLst/>
          </a:prstGeom>
          <a:solidFill>
            <a:srgbClr val="B8BCC4"/>
          </a:solidFill>
          <a:ln w="0">
            <a:noFill/>
            <a:prstDash val="solid"/>
          </a:ln>
        </p:spPr>
        <p:txBody>
          <a:bodyPr/>
          <a:lstStyle/>
          <a:p>
            <a:endParaRPr lang="en-US"/>
          </a:p>
        </p:txBody>
      </p:sp>
      <p:sp>
        <p:nvSpPr>
          <p:cNvPr id="4" name="page-5">
            <a:extLst>
              <a:ext uri="{FF2B5EF4-FFF2-40B4-BE49-F238E27FC236}">
                <a16:creationId xmlns:a16="http://schemas.microsoft.com/office/drawing/2014/main" id="{D83D32AA-FEFB-4BC5-ACF7-6C4FB65C993D}"/>
              </a:ext>
            </a:extLst>
          </p:cNvPr>
          <p:cNvSpPr>
            <a:spLocks noGrp="1"/>
          </p:cNvSpPr>
          <p:nvPr/>
        </p:nvSpPr>
        <p:spPr>
          <a:xfrm>
            <a:off x="11191875" y="6438900"/>
            <a:ext cx="523875" cy="209550"/>
          </a:xfrm>
          <a:prstGeom prst="rect">
            <a:avLst/>
          </a:prstGeom>
          <a:noFill/>
          <a:ln w="0">
            <a:noFill/>
            <a:prstDash val="solid"/>
          </a:ln>
        </p:spPr>
        <p:txBody>
          <a:bodyPr anchor="t">
            <a:normAutofit fontScale="73809"/>
          </a:bodyPr>
          <a:lstStyle/>
          <a:p>
            <a:pPr algn="r">
              <a:buNone/>
              <a:defRPr sz="1050" b="0">
                <a:solidFill>
                  <a:srgbClr val="60646C"/>
                </a:solidFill>
                <a:latin typeface="Arial"/>
                <a:ea typeface="Arial"/>
                <a:cs typeface="Arial"/>
              </a:defRPr>
            </a:pPr>
            <a:r>
              <a:rPr sz="1050" b="0">
                <a:solidFill>
                  <a:srgbClr val="60646C"/>
                </a:solidFill>
                <a:latin typeface="Arial"/>
                <a:ea typeface="Arial"/>
                <a:cs typeface="Arial"/>
              </a:rPr>
              <a:t>5</a:t>
            </a:r>
          </a:p>
        </p:txBody>
      </p:sp>
      <p:sp>
        <p:nvSpPr>
          <p:cNvPr id="5" name="th-0">
            <a:extLst>
              <a:ext uri="{FF2B5EF4-FFF2-40B4-BE49-F238E27FC236}">
                <a16:creationId xmlns:a16="http://schemas.microsoft.com/office/drawing/2014/main" id="{7DEB00CD-3603-4741-B67D-F0CA64F133B3}"/>
              </a:ext>
            </a:extLst>
          </p:cNvPr>
          <p:cNvSpPr>
            <a:spLocks noGrp="1"/>
          </p:cNvSpPr>
          <p:nvPr/>
        </p:nvSpPr>
        <p:spPr>
          <a:xfrm>
            <a:off x="457200" y="1714500"/>
            <a:ext cx="2000250" cy="342900"/>
          </a:xfrm>
          <a:prstGeom prst="rect">
            <a:avLst/>
          </a:prstGeom>
          <a:noFill/>
          <a:ln w="0">
            <a:noFill/>
            <a:prstDash val="solid"/>
          </a:ln>
        </p:spPr>
        <p:txBody>
          <a:bodyPr anchor="t">
            <a:normAutofit/>
          </a:bodyPr>
          <a:lstStyle/>
          <a:p>
            <a:pPr algn="l">
              <a:buNone/>
              <a:defRPr sz="1275" b="1">
                <a:solidFill>
                  <a:srgbClr val="60646C"/>
                </a:solidFill>
                <a:latin typeface="Arial"/>
                <a:ea typeface="Arial"/>
                <a:cs typeface="Arial"/>
              </a:defRPr>
            </a:pPr>
            <a:r>
              <a:rPr sz="1275" b="1">
                <a:solidFill>
                  <a:srgbClr val="60646C"/>
                </a:solidFill>
                <a:latin typeface="Arial"/>
                <a:ea typeface="Arial"/>
                <a:cs typeface="Arial"/>
              </a:rPr>
              <a:t>SCENARIO</a:t>
            </a:r>
          </a:p>
        </p:txBody>
      </p:sp>
      <p:sp>
        <p:nvSpPr>
          <p:cNvPr id="6" name="th-1">
            <a:extLst>
              <a:ext uri="{FF2B5EF4-FFF2-40B4-BE49-F238E27FC236}">
                <a16:creationId xmlns:a16="http://schemas.microsoft.com/office/drawing/2014/main" id="{D2FBA0B7-1AD0-4A0A-BDAC-94737BBECE17}"/>
              </a:ext>
            </a:extLst>
          </p:cNvPr>
          <p:cNvSpPr>
            <a:spLocks noGrp="1"/>
          </p:cNvSpPr>
          <p:nvPr/>
        </p:nvSpPr>
        <p:spPr>
          <a:xfrm>
            <a:off x="2571750" y="1714500"/>
            <a:ext cx="2667000" cy="342900"/>
          </a:xfrm>
          <a:prstGeom prst="rect">
            <a:avLst/>
          </a:prstGeom>
          <a:noFill/>
          <a:ln w="0">
            <a:noFill/>
            <a:prstDash val="solid"/>
          </a:ln>
        </p:spPr>
        <p:txBody>
          <a:bodyPr anchor="t">
            <a:normAutofit/>
          </a:bodyPr>
          <a:lstStyle/>
          <a:p>
            <a:pPr algn="l">
              <a:buNone/>
              <a:defRPr sz="1275" b="1">
                <a:solidFill>
                  <a:srgbClr val="60646C"/>
                </a:solidFill>
                <a:latin typeface="Arial"/>
                <a:ea typeface="Arial"/>
                <a:cs typeface="Arial"/>
              </a:defRPr>
            </a:pPr>
            <a:r>
              <a:rPr sz="1275" b="1">
                <a:solidFill>
                  <a:srgbClr val="60646C"/>
                </a:solidFill>
                <a:latin typeface="Arial"/>
                <a:ea typeface="Arial"/>
                <a:cs typeface="Arial"/>
              </a:rPr>
              <a:t>ENGINEERING OUTCOME</a:t>
            </a:r>
          </a:p>
        </p:txBody>
      </p:sp>
      <p:sp>
        <p:nvSpPr>
          <p:cNvPr id="7" name="th-2">
            <a:extLst>
              <a:ext uri="{FF2B5EF4-FFF2-40B4-BE49-F238E27FC236}">
                <a16:creationId xmlns:a16="http://schemas.microsoft.com/office/drawing/2014/main" id="{49C289CB-CD50-4437-BB3C-48E125EFEDE9}"/>
              </a:ext>
            </a:extLst>
          </p:cNvPr>
          <p:cNvSpPr>
            <a:spLocks noGrp="1"/>
          </p:cNvSpPr>
          <p:nvPr/>
        </p:nvSpPr>
        <p:spPr>
          <a:xfrm>
            <a:off x="5381625" y="1714500"/>
            <a:ext cx="3524250" cy="342900"/>
          </a:xfrm>
          <a:prstGeom prst="rect">
            <a:avLst/>
          </a:prstGeom>
          <a:noFill/>
          <a:ln w="0">
            <a:noFill/>
            <a:prstDash val="solid"/>
          </a:ln>
        </p:spPr>
        <p:txBody>
          <a:bodyPr anchor="t">
            <a:normAutofit/>
          </a:bodyPr>
          <a:lstStyle/>
          <a:p>
            <a:pPr algn="l">
              <a:buNone/>
              <a:defRPr sz="1275" b="1">
                <a:solidFill>
                  <a:srgbClr val="60646C"/>
                </a:solidFill>
                <a:latin typeface="Arial"/>
                <a:ea typeface="Arial"/>
                <a:cs typeface="Arial"/>
              </a:defRPr>
            </a:pPr>
            <a:r>
              <a:rPr sz="1275" b="1">
                <a:solidFill>
                  <a:srgbClr val="60646C"/>
                </a:solidFill>
                <a:latin typeface="Arial"/>
                <a:ea typeface="Arial"/>
                <a:cs typeface="Arial"/>
              </a:rPr>
              <a:t>ORCHESTRATION DIFFERENTIATOR</a:t>
            </a:r>
          </a:p>
        </p:txBody>
      </p:sp>
      <p:sp>
        <p:nvSpPr>
          <p:cNvPr id="8" name="th-3">
            <a:extLst>
              <a:ext uri="{FF2B5EF4-FFF2-40B4-BE49-F238E27FC236}">
                <a16:creationId xmlns:a16="http://schemas.microsoft.com/office/drawing/2014/main" id="{3B335467-ADF9-4495-BB2D-F546D47A2A20}"/>
              </a:ext>
            </a:extLst>
          </p:cNvPr>
          <p:cNvSpPr>
            <a:spLocks noGrp="1"/>
          </p:cNvSpPr>
          <p:nvPr/>
        </p:nvSpPr>
        <p:spPr>
          <a:xfrm>
            <a:off x="9048750" y="1714500"/>
            <a:ext cx="2667000" cy="342900"/>
          </a:xfrm>
          <a:prstGeom prst="rect">
            <a:avLst/>
          </a:prstGeom>
          <a:noFill/>
          <a:ln w="0">
            <a:noFill/>
            <a:prstDash val="solid"/>
          </a:ln>
        </p:spPr>
        <p:txBody>
          <a:bodyPr anchor="t">
            <a:normAutofit/>
          </a:bodyPr>
          <a:lstStyle/>
          <a:p>
            <a:pPr algn="l">
              <a:buNone/>
              <a:defRPr sz="1275" b="1">
                <a:solidFill>
                  <a:srgbClr val="60646C"/>
                </a:solidFill>
                <a:latin typeface="Arial"/>
                <a:ea typeface="Arial"/>
                <a:cs typeface="Arial"/>
              </a:defRPr>
            </a:pPr>
            <a:r>
              <a:rPr sz="1275" b="1">
                <a:solidFill>
                  <a:srgbClr val="60646C"/>
                </a:solidFill>
                <a:latin typeface="Arial"/>
                <a:ea typeface="Arial"/>
                <a:cs typeface="Arial"/>
              </a:rPr>
              <a:t>GATE</a:t>
            </a:r>
          </a:p>
        </p:txBody>
      </p:sp>
      <p:sp>
        <p:nvSpPr>
          <p:cNvPr id="9" name="row-bg-0">
            <a:extLst>
              <a:ext uri="{FF2B5EF4-FFF2-40B4-BE49-F238E27FC236}">
                <a16:creationId xmlns:a16="http://schemas.microsoft.com/office/drawing/2014/main" id="{C9C7A37A-1671-4401-96AF-8BCCDB251AC8}"/>
              </a:ext>
            </a:extLst>
          </p:cNvPr>
          <p:cNvSpPr>
            <a:spLocks noGrp="1"/>
          </p:cNvSpPr>
          <p:nvPr/>
        </p:nvSpPr>
        <p:spPr>
          <a:xfrm>
            <a:off x="457200" y="2105025"/>
            <a:ext cx="11277600" cy="971550"/>
          </a:xfrm>
          <a:prstGeom prst="rect">
            <a:avLst/>
          </a:prstGeom>
          <a:solidFill>
            <a:srgbClr val="FFFFFF"/>
          </a:solidFill>
          <a:ln w="0">
            <a:noFill/>
            <a:prstDash val="solid"/>
          </a:ln>
        </p:spPr>
        <p:txBody>
          <a:bodyPr/>
          <a:lstStyle/>
          <a:p>
            <a:endParaRPr lang="en-US"/>
          </a:p>
        </p:txBody>
      </p:sp>
      <p:sp>
        <p:nvSpPr>
          <p:cNvPr id="10" name="cell-0-0">
            <a:extLst>
              <a:ext uri="{FF2B5EF4-FFF2-40B4-BE49-F238E27FC236}">
                <a16:creationId xmlns:a16="http://schemas.microsoft.com/office/drawing/2014/main" id="{647064CE-7F89-44C2-AA40-FFDC8D9CFC98}"/>
              </a:ext>
            </a:extLst>
          </p:cNvPr>
          <p:cNvSpPr>
            <a:spLocks noGrp="1"/>
          </p:cNvSpPr>
          <p:nvPr/>
        </p:nvSpPr>
        <p:spPr>
          <a:xfrm>
            <a:off x="457200" y="2238375"/>
            <a:ext cx="1866900" cy="666750"/>
          </a:xfrm>
          <a:prstGeom prst="rect">
            <a:avLst/>
          </a:prstGeom>
          <a:noFill/>
          <a:ln w="0">
            <a:noFill/>
            <a:prstDash val="solid"/>
          </a:ln>
        </p:spPr>
        <p:txBody>
          <a:bodyPr anchor="t">
            <a:normAutofit/>
          </a:bodyPr>
          <a:lstStyle/>
          <a:p>
            <a:pPr algn="l">
              <a:buNone/>
              <a:defRPr sz="1650" b="1">
                <a:solidFill>
                  <a:srgbClr val="3D8DFF"/>
                </a:solidFill>
                <a:latin typeface="Arial"/>
                <a:ea typeface="Arial"/>
                <a:cs typeface="Arial"/>
              </a:defRPr>
            </a:pPr>
            <a:r>
              <a:rPr sz="1650" b="1">
                <a:solidFill>
                  <a:srgbClr val="3D8DFF"/>
                </a:solidFill>
                <a:latin typeface="Arial"/>
                <a:ea typeface="Arial"/>
                <a:cs typeface="Arial"/>
              </a:rPr>
              <a:t>GREENFIELD</a:t>
            </a:r>
          </a:p>
        </p:txBody>
      </p:sp>
      <p:sp>
        <p:nvSpPr>
          <p:cNvPr id="11" name="cell-0-1">
            <a:extLst>
              <a:ext uri="{FF2B5EF4-FFF2-40B4-BE49-F238E27FC236}">
                <a16:creationId xmlns:a16="http://schemas.microsoft.com/office/drawing/2014/main" id="{C5A5007E-5791-4C5C-8827-D041D1268982}"/>
              </a:ext>
            </a:extLst>
          </p:cNvPr>
          <p:cNvSpPr>
            <a:spLocks noGrp="1"/>
          </p:cNvSpPr>
          <p:nvPr/>
        </p:nvSpPr>
        <p:spPr>
          <a:xfrm>
            <a:off x="2571750" y="2238375"/>
            <a:ext cx="2533650" cy="666750"/>
          </a:xfrm>
          <a:prstGeom prst="rect">
            <a:avLst/>
          </a:prstGeom>
          <a:noFill/>
          <a:ln w="0">
            <a:noFill/>
            <a:prstDash val="solid"/>
          </a:ln>
        </p:spPr>
        <p:txBody>
          <a:bodyPr anchor="t">
            <a:normAutofit/>
          </a:bodyPr>
          <a:lstStyle/>
          <a:p>
            <a:pPr algn="l">
              <a:buNone/>
              <a:defRPr sz="1500" b="0">
                <a:solidFill>
                  <a:srgbClr val="111111"/>
                </a:solidFill>
                <a:latin typeface="Arial"/>
                <a:ea typeface="Arial"/>
                <a:cs typeface="Arial"/>
              </a:defRPr>
            </a:pPr>
            <a:r>
              <a:rPr sz="1500" b="0">
                <a:solidFill>
                  <a:srgbClr val="111111"/>
                </a:solidFill>
                <a:latin typeface="Arial"/>
                <a:ea typeface="Arial"/>
                <a:cs typeface="Arial"/>
              </a:rPr>
              <a:t>URL expiration; 410 Gone</a:t>
            </a:r>
          </a:p>
        </p:txBody>
      </p:sp>
      <p:sp>
        <p:nvSpPr>
          <p:cNvPr id="12" name="cell-0-2">
            <a:extLst>
              <a:ext uri="{FF2B5EF4-FFF2-40B4-BE49-F238E27FC236}">
                <a16:creationId xmlns:a16="http://schemas.microsoft.com/office/drawing/2014/main" id="{D72FC01F-158B-4D3A-AB90-2615DA27FC3C}"/>
              </a:ext>
            </a:extLst>
          </p:cNvPr>
          <p:cNvSpPr>
            <a:spLocks noGrp="1"/>
          </p:cNvSpPr>
          <p:nvPr/>
        </p:nvSpPr>
        <p:spPr>
          <a:xfrm>
            <a:off x="5381625" y="2238375"/>
            <a:ext cx="3390900" cy="666750"/>
          </a:xfrm>
          <a:prstGeom prst="rect">
            <a:avLst/>
          </a:prstGeom>
          <a:noFill/>
          <a:ln w="0">
            <a:noFill/>
            <a:prstDash val="solid"/>
          </a:ln>
        </p:spPr>
        <p:txBody>
          <a:bodyPr anchor="t">
            <a:normAutofit/>
          </a:bodyPr>
          <a:lstStyle/>
          <a:p>
            <a:pPr algn="l">
              <a:buNone/>
              <a:defRPr sz="1500" b="0">
                <a:solidFill>
                  <a:srgbClr val="111111"/>
                </a:solidFill>
                <a:latin typeface="Arial"/>
                <a:ea typeface="Arial"/>
                <a:cs typeface="Arial"/>
              </a:defRPr>
            </a:pPr>
            <a:r>
              <a:rPr sz="1500" b="0">
                <a:solidFill>
                  <a:srgbClr val="111111"/>
                </a:solidFill>
                <a:latin typeface="Arial"/>
                <a:ea typeface="Arial"/>
                <a:cs typeface="Arial"/>
              </a:rPr>
              <a:t>Implementation + tests run in parallel</a:t>
            </a:r>
          </a:p>
        </p:txBody>
      </p:sp>
      <p:sp>
        <p:nvSpPr>
          <p:cNvPr id="13" name="cell-0-3">
            <a:extLst>
              <a:ext uri="{FF2B5EF4-FFF2-40B4-BE49-F238E27FC236}">
                <a16:creationId xmlns:a16="http://schemas.microsoft.com/office/drawing/2014/main" id="{77C17618-FB7E-4E56-BD26-D9341A838443}"/>
              </a:ext>
            </a:extLst>
          </p:cNvPr>
          <p:cNvSpPr>
            <a:spLocks noGrp="1"/>
          </p:cNvSpPr>
          <p:nvPr/>
        </p:nvSpPr>
        <p:spPr>
          <a:xfrm>
            <a:off x="9048750" y="2238375"/>
            <a:ext cx="2533650" cy="666750"/>
          </a:xfrm>
          <a:prstGeom prst="rect">
            <a:avLst/>
          </a:prstGeom>
          <a:noFill/>
          <a:ln w="0">
            <a:noFill/>
            <a:prstDash val="solid"/>
          </a:ln>
        </p:spPr>
        <p:txBody>
          <a:bodyPr anchor="t">
            <a:normAutofit/>
          </a:bodyPr>
          <a:lstStyle/>
          <a:p>
            <a:pPr algn="l">
              <a:buNone/>
              <a:defRPr sz="1500" b="0">
                <a:solidFill>
                  <a:srgbClr val="111111"/>
                </a:solidFill>
                <a:latin typeface="Arial"/>
                <a:ea typeface="Arial"/>
                <a:cs typeface="Arial"/>
              </a:defRPr>
            </a:pPr>
            <a:r>
              <a:rPr sz="1500" b="0">
                <a:solidFill>
                  <a:srgbClr val="111111"/>
                </a:solidFill>
                <a:latin typeface="Arial"/>
                <a:ea typeface="Arial"/>
                <a:cs typeface="Arial"/>
              </a:rPr>
              <a:t>Plan approval</a:t>
            </a:r>
          </a:p>
        </p:txBody>
      </p:sp>
      <p:sp>
        <p:nvSpPr>
          <p:cNvPr id="14" name="row-rule-0">
            <a:extLst>
              <a:ext uri="{FF2B5EF4-FFF2-40B4-BE49-F238E27FC236}">
                <a16:creationId xmlns:a16="http://schemas.microsoft.com/office/drawing/2014/main" id="{6A26C915-3CDB-4406-860D-1D52AECC3FC8}"/>
              </a:ext>
            </a:extLst>
          </p:cNvPr>
          <p:cNvSpPr>
            <a:spLocks noGrp="1"/>
          </p:cNvSpPr>
          <p:nvPr/>
        </p:nvSpPr>
        <p:spPr>
          <a:xfrm>
            <a:off x="457200" y="3076575"/>
            <a:ext cx="11277600" cy="9525"/>
          </a:xfrm>
          <a:prstGeom prst="rect">
            <a:avLst/>
          </a:prstGeom>
          <a:solidFill>
            <a:srgbClr val="B8BCC4"/>
          </a:solidFill>
          <a:ln w="0">
            <a:noFill/>
            <a:prstDash val="solid"/>
          </a:ln>
        </p:spPr>
        <p:txBody>
          <a:bodyPr/>
          <a:lstStyle/>
          <a:p>
            <a:endParaRPr lang="en-US"/>
          </a:p>
        </p:txBody>
      </p:sp>
      <p:sp>
        <p:nvSpPr>
          <p:cNvPr id="15" name="row-bg-1">
            <a:extLst>
              <a:ext uri="{FF2B5EF4-FFF2-40B4-BE49-F238E27FC236}">
                <a16:creationId xmlns:a16="http://schemas.microsoft.com/office/drawing/2014/main" id="{C18DE775-9487-4827-86E4-4A670FEF40C0}"/>
              </a:ext>
            </a:extLst>
          </p:cNvPr>
          <p:cNvSpPr>
            <a:spLocks noGrp="1"/>
          </p:cNvSpPr>
          <p:nvPr/>
        </p:nvSpPr>
        <p:spPr>
          <a:xfrm>
            <a:off x="457200" y="3295650"/>
            <a:ext cx="11277600" cy="971550"/>
          </a:xfrm>
          <a:prstGeom prst="rect">
            <a:avLst/>
          </a:prstGeom>
          <a:solidFill>
            <a:srgbClr val="F6F6F6"/>
          </a:solidFill>
          <a:ln w="0">
            <a:noFill/>
            <a:prstDash val="solid"/>
          </a:ln>
        </p:spPr>
        <p:txBody>
          <a:bodyPr/>
          <a:lstStyle/>
          <a:p>
            <a:endParaRPr lang="en-US"/>
          </a:p>
        </p:txBody>
      </p:sp>
      <p:sp>
        <p:nvSpPr>
          <p:cNvPr id="16" name="cell-1-0">
            <a:extLst>
              <a:ext uri="{FF2B5EF4-FFF2-40B4-BE49-F238E27FC236}">
                <a16:creationId xmlns:a16="http://schemas.microsoft.com/office/drawing/2014/main" id="{0D790719-3F04-4A47-8468-C72FEF17BD92}"/>
              </a:ext>
            </a:extLst>
          </p:cNvPr>
          <p:cNvSpPr>
            <a:spLocks noGrp="1"/>
          </p:cNvSpPr>
          <p:nvPr/>
        </p:nvSpPr>
        <p:spPr>
          <a:xfrm>
            <a:off x="457200" y="3429000"/>
            <a:ext cx="1866900" cy="666750"/>
          </a:xfrm>
          <a:prstGeom prst="rect">
            <a:avLst/>
          </a:prstGeom>
          <a:noFill/>
          <a:ln w="0">
            <a:noFill/>
            <a:prstDash val="solid"/>
          </a:ln>
        </p:spPr>
        <p:txBody>
          <a:bodyPr anchor="t">
            <a:normAutofit/>
          </a:bodyPr>
          <a:lstStyle/>
          <a:p>
            <a:pPr algn="l">
              <a:buNone/>
              <a:defRPr sz="1650" b="1">
                <a:solidFill>
                  <a:srgbClr val="3D8DFF"/>
                </a:solidFill>
                <a:latin typeface="Arial"/>
                <a:ea typeface="Arial"/>
                <a:cs typeface="Arial"/>
              </a:defRPr>
            </a:pPr>
            <a:r>
              <a:rPr sz="1650" b="1">
                <a:solidFill>
                  <a:srgbClr val="3D8DFF"/>
                </a:solidFill>
                <a:latin typeface="Arial"/>
                <a:ea typeface="Arial"/>
                <a:cs typeface="Arial"/>
              </a:rPr>
              <a:t>BROWNFIELD</a:t>
            </a:r>
          </a:p>
        </p:txBody>
      </p:sp>
      <p:sp>
        <p:nvSpPr>
          <p:cNvPr id="17" name="cell-1-1">
            <a:extLst>
              <a:ext uri="{FF2B5EF4-FFF2-40B4-BE49-F238E27FC236}">
                <a16:creationId xmlns:a16="http://schemas.microsoft.com/office/drawing/2014/main" id="{1DCD7577-C049-4CD1-8D0E-6CFD457B1968}"/>
              </a:ext>
            </a:extLst>
          </p:cNvPr>
          <p:cNvSpPr>
            <a:spLocks noGrp="1"/>
          </p:cNvSpPr>
          <p:nvPr/>
        </p:nvSpPr>
        <p:spPr>
          <a:xfrm>
            <a:off x="2571750" y="3429000"/>
            <a:ext cx="2533650" cy="666750"/>
          </a:xfrm>
          <a:prstGeom prst="rect">
            <a:avLst/>
          </a:prstGeom>
          <a:noFill/>
          <a:ln w="0">
            <a:noFill/>
            <a:prstDash val="solid"/>
          </a:ln>
        </p:spPr>
        <p:txBody>
          <a:bodyPr anchor="t">
            <a:normAutofit/>
          </a:bodyPr>
          <a:lstStyle/>
          <a:p>
            <a:pPr algn="l">
              <a:buNone/>
              <a:defRPr sz="1500" b="0">
                <a:solidFill>
                  <a:srgbClr val="111111"/>
                </a:solidFill>
                <a:latin typeface="Arial"/>
                <a:ea typeface="Arial"/>
                <a:cs typeface="Arial"/>
              </a:defRPr>
            </a:pPr>
            <a:r>
              <a:rPr sz="1500" b="0">
                <a:solidFill>
                  <a:srgbClr val="111111"/>
                </a:solidFill>
                <a:latin typeface="Arial"/>
                <a:ea typeface="Arial"/>
                <a:cs typeface="Arial"/>
              </a:rPr>
              <a:t>Flyway; preserve existing rows</a:t>
            </a:r>
          </a:p>
        </p:txBody>
      </p:sp>
      <p:sp>
        <p:nvSpPr>
          <p:cNvPr id="18" name="cell-1-2">
            <a:extLst>
              <a:ext uri="{FF2B5EF4-FFF2-40B4-BE49-F238E27FC236}">
                <a16:creationId xmlns:a16="http://schemas.microsoft.com/office/drawing/2014/main" id="{DFA87A3B-FDF6-4483-BECF-BBB7A0E2BBF5}"/>
              </a:ext>
            </a:extLst>
          </p:cNvPr>
          <p:cNvSpPr>
            <a:spLocks noGrp="1"/>
          </p:cNvSpPr>
          <p:nvPr/>
        </p:nvSpPr>
        <p:spPr>
          <a:xfrm>
            <a:off x="5381625" y="3429000"/>
            <a:ext cx="3390900" cy="666750"/>
          </a:xfrm>
          <a:prstGeom prst="rect">
            <a:avLst/>
          </a:prstGeom>
          <a:noFill/>
          <a:ln w="0">
            <a:noFill/>
            <a:prstDash val="solid"/>
          </a:ln>
        </p:spPr>
        <p:txBody>
          <a:bodyPr anchor="t">
            <a:normAutofit/>
          </a:bodyPr>
          <a:lstStyle/>
          <a:p>
            <a:pPr algn="l">
              <a:buNone/>
              <a:defRPr sz="1500" b="0">
                <a:solidFill>
                  <a:srgbClr val="111111"/>
                </a:solidFill>
                <a:latin typeface="Arial"/>
                <a:ea typeface="Arial"/>
                <a:cs typeface="Arial"/>
              </a:defRPr>
            </a:pPr>
            <a:r>
              <a:rPr sz="1500" b="0">
                <a:solidFill>
                  <a:srgbClr val="111111"/>
                </a:solidFill>
                <a:latin typeface="Arial"/>
                <a:ea typeface="Arial"/>
                <a:cs typeface="Arial"/>
              </a:rPr>
              <a:t>Recovery point, migration, preservation test</a:t>
            </a:r>
          </a:p>
        </p:txBody>
      </p:sp>
      <p:sp>
        <p:nvSpPr>
          <p:cNvPr id="19" name="cell-1-3">
            <a:extLst>
              <a:ext uri="{FF2B5EF4-FFF2-40B4-BE49-F238E27FC236}">
                <a16:creationId xmlns:a16="http://schemas.microsoft.com/office/drawing/2014/main" id="{61016145-9664-4CF2-BDF7-F72084DCAFCF}"/>
              </a:ext>
            </a:extLst>
          </p:cNvPr>
          <p:cNvSpPr>
            <a:spLocks noGrp="1"/>
          </p:cNvSpPr>
          <p:nvPr/>
        </p:nvSpPr>
        <p:spPr>
          <a:xfrm>
            <a:off x="9048750" y="3429000"/>
            <a:ext cx="2533650" cy="666750"/>
          </a:xfrm>
          <a:prstGeom prst="rect">
            <a:avLst/>
          </a:prstGeom>
          <a:noFill/>
          <a:ln w="0">
            <a:noFill/>
            <a:prstDash val="solid"/>
          </a:ln>
        </p:spPr>
        <p:txBody>
          <a:bodyPr anchor="t">
            <a:normAutofit/>
          </a:bodyPr>
          <a:lstStyle/>
          <a:p>
            <a:pPr algn="l">
              <a:buNone/>
              <a:defRPr sz="1500" b="0">
                <a:solidFill>
                  <a:srgbClr val="111111"/>
                </a:solidFill>
                <a:latin typeface="Arial"/>
                <a:ea typeface="Arial"/>
                <a:cs typeface="Arial"/>
              </a:defRPr>
            </a:pPr>
            <a:r>
              <a:rPr sz="1500" b="0">
                <a:solidFill>
                  <a:srgbClr val="111111"/>
                </a:solidFill>
                <a:latin typeface="Arial"/>
                <a:ea typeface="Arial"/>
                <a:cs typeface="Arial"/>
              </a:rPr>
              <a:t>Plan + schema approval</a:t>
            </a:r>
          </a:p>
        </p:txBody>
      </p:sp>
      <p:sp>
        <p:nvSpPr>
          <p:cNvPr id="20" name="row-rule-1">
            <a:extLst>
              <a:ext uri="{FF2B5EF4-FFF2-40B4-BE49-F238E27FC236}">
                <a16:creationId xmlns:a16="http://schemas.microsoft.com/office/drawing/2014/main" id="{F71C1229-1CEC-4E53-92EA-7CE403817CF2}"/>
              </a:ext>
            </a:extLst>
          </p:cNvPr>
          <p:cNvSpPr>
            <a:spLocks noGrp="1"/>
          </p:cNvSpPr>
          <p:nvPr/>
        </p:nvSpPr>
        <p:spPr>
          <a:xfrm>
            <a:off x="457200" y="4267200"/>
            <a:ext cx="11277600" cy="9525"/>
          </a:xfrm>
          <a:prstGeom prst="rect">
            <a:avLst/>
          </a:prstGeom>
          <a:solidFill>
            <a:srgbClr val="B8BCC4"/>
          </a:solidFill>
          <a:ln w="0">
            <a:noFill/>
            <a:prstDash val="solid"/>
          </a:ln>
        </p:spPr>
        <p:txBody>
          <a:bodyPr/>
          <a:lstStyle/>
          <a:p>
            <a:endParaRPr lang="en-US"/>
          </a:p>
        </p:txBody>
      </p:sp>
      <p:sp>
        <p:nvSpPr>
          <p:cNvPr id="21" name="row-bg-2">
            <a:extLst>
              <a:ext uri="{FF2B5EF4-FFF2-40B4-BE49-F238E27FC236}">
                <a16:creationId xmlns:a16="http://schemas.microsoft.com/office/drawing/2014/main" id="{9AD194D9-179F-42FD-944C-B7B9ABA722F9}"/>
              </a:ext>
            </a:extLst>
          </p:cNvPr>
          <p:cNvSpPr>
            <a:spLocks noGrp="1"/>
          </p:cNvSpPr>
          <p:nvPr/>
        </p:nvSpPr>
        <p:spPr>
          <a:xfrm>
            <a:off x="457200" y="4486275"/>
            <a:ext cx="11277600" cy="971550"/>
          </a:xfrm>
          <a:prstGeom prst="rect">
            <a:avLst/>
          </a:prstGeom>
          <a:solidFill>
            <a:srgbClr val="FFFFFF"/>
          </a:solidFill>
          <a:ln w="0">
            <a:noFill/>
            <a:prstDash val="solid"/>
          </a:ln>
        </p:spPr>
        <p:txBody>
          <a:bodyPr/>
          <a:lstStyle/>
          <a:p>
            <a:endParaRPr lang="en-US"/>
          </a:p>
        </p:txBody>
      </p:sp>
      <p:sp>
        <p:nvSpPr>
          <p:cNvPr id="22" name="cell-2-0">
            <a:extLst>
              <a:ext uri="{FF2B5EF4-FFF2-40B4-BE49-F238E27FC236}">
                <a16:creationId xmlns:a16="http://schemas.microsoft.com/office/drawing/2014/main" id="{9144802C-95BF-45E7-AE8D-1185D6A6BF14}"/>
              </a:ext>
            </a:extLst>
          </p:cNvPr>
          <p:cNvSpPr>
            <a:spLocks noGrp="1"/>
          </p:cNvSpPr>
          <p:nvPr/>
        </p:nvSpPr>
        <p:spPr>
          <a:xfrm>
            <a:off x="457200" y="4619625"/>
            <a:ext cx="1866900" cy="666750"/>
          </a:xfrm>
          <a:prstGeom prst="rect">
            <a:avLst/>
          </a:prstGeom>
          <a:noFill/>
          <a:ln w="0">
            <a:noFill/>
            <a:prstDash val="solid"/>
          </a:ln>
        </p:spPr>
        <p:txBody>
          <a:bodyPr anchor="t">
            <a:normAutofit/>
          </a:bodyPr>
          <a:lstStyle/>
          <a:p>
            <a:pPr algn="l">
              <a:buNone/>
              <a:defRPr sz="1650" b="1">
                <a:solidFill>
                  <a:srgbClr val="3D8DFF"/>
                </a:solidFill>
                <a:latin typeface="Arial"/>
                <a:ea typeface="Arial"/>
                <a:cs typeface="Arial"/>
              </a:defRPr>
            </a:pPr>
            <a:r>
              <a:rPr sz="1650" b="1">
                <a:solidFill>
                  <a:srgbClr val="3D8DFF"/>
                </a:solidFill>
                <a:latin typeface="Arial"/>
                <a:ea typeface="Arial"/>
                <a:cs typeface="Arial"/>
              </a:rPr>
              <a:t>AMBIGUOUS</a:t>
            </a:r>
          </a:p>
        </p:txBody>
      </p:sp>
      <p:sp>
        <p:nvSpPr>
          <p:cNvPr id="23" name="cell-2-1">
            <a:extLst>
              <a:ext uri="{FF2B5EF4-FFF2-40B4-BE49-F238E27FC236}">
                <a16:creationId xmlns:a16="http://schemas.microsoft.com/office/drawing/2014/main" id="{F387716E-2CA0-41A9-9868-EA09B30B58AC}"/>
              </a:ext>
            </a:extLst>
          </p:cNvPr>
          <p:cNvSpPr>
            <a:spLocks noGrp="1"/>
          </p:cNvSpPr>
          <p:nvPr/>
        </p:nvSpPr>
        <p:spPr>
          <a:xfrm>
            <a:off x="2571750" y="4619625"/>
            <a:ext cx="2533650" cy="666750"/>
          </a:xfrm>
          <a:prstGeom prst="rect">
            <a:avLst/>
          </a:prstGeom>
          <a:noFill/>
          <a:ln w="0">
            <a:noFill/>
            <a:prstDash val="solid"/>
          </a:ln>
        </p:spPr>
        <p:txBody>
          <a:bodyPr anchor="t">
            <a:normAutofit/>
          </a:bodyPr>
          <a:lstStyle/>
          <a:p>
            <a:pPr algn="l">
              <a:buNone/>
              <a:defRPr sz="1500" b="0">
                <a:solidFill>
                  <a:srgbClr val="111111"/>
                </a:solidFill>
                <a:latin typeface="Arial"/>
                <a:ea typeface="Arial"/>
                <a:cs typeface="Arial"/>
              </a:defRPr>
            </a:pPr>
            <a:r>
              <a:rPr sz="1500" b="0">
                <a:solidFill>
                  <a:srgbClr val="111111"/>
                </a:solidFill>
                <a:latin typeface="Arial"/>
                <a:ea typeface="Arial"/>
                <a:cs typeface="Arial"/>
              </a:rPr>
              <a:t>Aggregate-only richer analytics</a:t>
            </a:r>
          </a:p>
        </p:txBody>
      </p:sp>
      <p:sp>
        <p:nvSpPr>
          <p:cNvPr id="24" name="cell-2-2">
            <a:extLst>
              <a:ext uri="{FF2B5EF4-FFF2-40B4-BE49-F238E27FC236}">
                <a16:creationId xmlns:a16="http://schemas.microsoft.com/office/drawing/2014/main" id="{62524191-C0F6-44AF-8445-C87C7AED791F}"/>
              </a:ext>
            </a:extLst>
          </p:cNvPr>
          <p:cNvSpPr>
            <a:spLocks noGrp="1"/>
          </p:cNvSpPr>
          <p:nvPr/>
        </p:nvSpPr>
        <p:spPr>
          <a:xfrm>
            <a:off x="5381625" y="4619625"/>
            <a:ext cx="3390900" cy="666750"/>
          </a:xfrm>
          <a:prstGeom prst="rect">
            <a:avLst/>
          </a:prstGeom>
          <a:noFill/>
          <a:ln w="0">
            <a:noFill/>
            <a:prstDash val="solid"/>
          </a:ln>
        </p:spPr>
        <p:txBody>
          <a:bodyPr anchor="t">
            <a:normAutofit/>
          </a:bodyPr>
          <a:lstStyle/>
          <a:p>
            <a:pPr algn="l">
              <a:buNone/>
              <a:defRPr sz="1500" b="0">
                <a:solidFill>
                  <a:srgbClr val="111111"/>
                </a:solidFill>
                <a:latin typeface="Arial"/>
                <a:ea typeface="Arial"/>
                <a:cs typeface="Arial"/>
              </a:defRPr>
            </a:pPr>
            <a:r>
              <a:rPr sz="1500" b="0">
                <a:solidFill>
                  <a:srgbClr val="111111"/>
                </a:solidFill>
                <a:latin typeface="Arial"/>
                <a:ea typeface="Arial"/>
                <a:cs typeface="Arial"/>
              </a:rPr>
              <a:t>Clarification, privacy review, API design</a:t>
            </a:r>
          </a:p>
        </p:txBody>
      </p:sp>
      <p:sp>
        <p:nvSpPr>
          <p:cNvPr id="25" name="cell-2-3">
            <a:extLst>
              <a:ext uri="{FF2B5EF4-FFF2-40B4-BE49-F238E27FC236}">
                <a16:creationId xmlns:a16="http://schemas.microsoft.com/office/drawing/2014/main" id="{8263B9DE-49A6-48FB-901F-93882681C3C9}"/>
              </a:ext>
            </a:extLst>
          </p:cNvPr>
          <p:cNvSpPr>
            <a:spLocks noGrp="1"/>
          </p:cNvSpPr>
          <p:nvPr/>
        </p:nvSpPr>
        <p:spPr>
          <a:xfrm>
            <a:off x="9048750" y="4619625"/>
            <a:ext cx="2533650" cy="666750"/>
          </a:xfrm>
          <a:prstGeom prst="rect">
            <a:avLst/>
          </a:prstGeom>
          <a:noFill/>
          <a:ln w="0">
            <a:noFill/>
            <a:prstDash val="solid"/>
          </a:ln>
        </p:spPr>
        <p:txBody>
          <a:bodyPr anchor="t">
            <a:normAutofit/>
          </a:bodyPr>
          <a:lstStyle/>
          <a:p>
            <a:pPr algn="l">
              <a:buNone/>
              <a:defRPr sz="1500" b="0">
                <a:solidFill>
                  <a:srgbClr val="111111"/>
                </a:solidFill>
                <a:latin typeface="Arial"/>
                <a:ea typeface="Arial"/>
                <a:cs typeface="Arial"/>
              </a:defRPr>
            </a:pPr>
            <a:r>
              <a:rPr sz="1500" b="0">
                <a:solidFill>
                  <a:srgbClr val="111111"/>
                </a:solidFill>
                <a:latin typeface="Arial"/>
                <a:ea typeface="Arial"/>
                <a:cs typeface="Arial"/>
              </a:rPr>
              <a:t>Interpretation approval</a:t>
            </a:r>
          </a:p>
        </p:txBody>
      </p:sp>
      <p:sp>
        <p:nvSpPr>
          <p:cNvPr id="26" name="row-rule-2">
            <a:extLst>
              <a:ext uri="{FF2B5EF4-FFF2-40B4-BE49-F238E27FC236}">
                <a16:creationId xmlns:a16="http://schemas.microsoft.com/office/drawing/2014/main" id="{615623E2-E9DE-4B28-B91A-F2684DEBDA3A}"/>
              </a:ext>
            </a:extLst>
          </p:cNvPr>
          <p:cNvSpPr>
            <a:spLocks noGrp="1"/>
          </p:cNvSpPr>
          <p:nvPr/>
        </p:nvSpPr>
        <p:spPr>
          <a:xfrm>
            <a:off x="457200" y="5457825"/>
            <a:ext cx="11277600" cy="9525"/>
          </a:xfrm>
          <a:prstGeom prst="rect">
            <a:avLst/>
          </a:prstGeom>
          <a:solidFill>
            <a:srgbClr val="B8BCC4"/>
          </a:solidFill>
          <a:ln w="0">
            <a:noFill/>
            <a:prstDash val="solid"/>
          </a:ln>
        </p:spPr>
        <p:txBody>
          <a:bodyPr/>
          <a:lstStyle/>
          <a:p>
            <a:endParaRPr lang="en-US"/>
          </a:p>
        </p:txBody>
      </p:sp>
    </p:spTree>
    <p:extLst>
      <p:ext uri="{BB962C8B-B14F-4D97-AF65-F5344CB8AC3E}">
        <p14:creationId xmlns:p14="http://schemas.microsoft.com/office/powerpoint/2010/main" val="184612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eyebrow-6">
            <a:extLst>
              <a:ext uri="{FF2B5EF4-FFF2-40B4-BE49-F238E27FC236}">
                <a16:creationId xmlns:a16="http://schemas.microsoft.com/office/drawing/2014/main" id="{D18A834C-7DE8-4C87-AA74-C6E65163B292}"/>
              </a:ext>
            </a:extLst>
          </p:cNvPr>
          <p:cNvSpPr>
            <a:spLocks noGrp="1"/>
          </p:cNvSpPr>
          <p:nvPr/>
        </p:nvSpPr>
        <p:spPr>
          <a:xfrm>
            <a:off x="457200" y="266700"/>
            <a:ext cx="4762500" cy="266700"/>
          </a:xfrm>
          <a:prstGeom prst="rect">
            <a:avLst/>
          </a:prstGeom>
          <a:noFill/>
          <a:ln w="0">
            <a:noFill/>
            <a:prstDash val="solid"/>
          </a:ln>
        </p:spPr>
        <p:txBody>
          <a:bodyPr anchor="t">
            <a:normAutofit fontScale="95833"/>
          </a:bodyPr>
          <a:lstStyle/>
          <a:p>
            <a:pPr algn="l">
              <a:buNone/>
              <a:defRPr sz="1200" b="1">
                <a:solidFill>
                  <a:srgbClr val="60646C"/>
                </a:solidFill>
                <a:latin typeface="Arial"/>
                <a:ea typeface="Arial"/>
                <a:cs typeface="Arial"/>
              </a:defRPr>
            </a:pPr>
            <a:r>
              <a:rPr sz="1200" b="1">
                <a:solidFill>
                  <a:srgbClr val="60646C"/>
                </a:solidFill>
                <a:latin typeface="Arial"/>
                <a:ea typeface="Arial"/>
                <a:cs typeface="Arial"/>
              </a:rPr>
              <a:t>TINYURL · AGENTIC SDLC</a:t>
            </a:r>
          </a:p>
        </p:txBody>
      </p:sp>
      <p:sp>
        <p:nvSpPr>
          <p:cNvPr id="2" name="title-6">
            <a:extLst>
              <a:ext uri="{FF2B5EF4-FFF2-40B4-BE49-F238E27FC236}">
                <a16:creationId xmlns:a16="http://schemas.microsoft.com/office/drawing/2014/main" id="{C69A1F23-AE32-4CDA-9507-9F0DE3DBC058}"/>
              </a:ext>
            </a:extLst>
          </p:cNvPr>
          <p:cNvSpPr>
            <a:spLocks noGrp="1"/>
          </p:cNvSpPr>
          <p:nvPr/>
        </p:nvSpPr>
        <p:spPr>
          <a:xfrm>
            <a:off x="457200" y="647700"/>
            <a:ext cx="11277600" cy="685800"/>
          </a:xfrm>
          <a:prstGeom prst="rect">
            <a:avLst/>
          </a:prstGeom>
          <a:noFill/>
          <a:ln w="0">
            <a:noFill/>
            <a:prstDash val="solid"/>
          </a:ln>
        </p:spPr>
        <p:txBody>
          <a:bodyPr anchor="t">
            <a:normAutofit/>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Failure changes the path—it does not trigger blind persistence</a:t>
            </a:r>
          </a:p>
        </p:txBody>
      </p:sp>
      <p:sp>
        <p:nvSpPr>
          <p:cNvPr id="3" name="rule-6">
            <a:extLst>
              <a:ext uri="{FF2B5EF4-FFF2-40B4-BE49-F238E27FC236}">
                <a16:creationId xmlns:a16="http://schemas.microsoft.com/office/drawing/2014/main" id="{9B4411F6-75F9-4E11-BAEB-C020253DE591}"/>
              </a:ext>
            </a:extLst>
          </p:cNvPr>
          <p:cNvSpPr>
            <a:spLocks noGrp="1"/>
          </p:cNvSpPr>
          <p:nvPr/>
        </p:nvSpPr>
        <p:spPr>
          <a:xfrm>
            <a:off x="457200" y="1409700"/>
            <a:ext cx="11277600" cy="19050"/>
          </a:xfrm>
          <a:prstGeom prst="rect">
            <a:avLst/>
          </a:prstGeom>
          <a:solidFill>
            <a:srgbClr val="B8BCC4"/>
          </a:solidFill>
          <a:ln w="0">
            <a:noFill/>
            <a:prstDash val="solid"/>
          </a:ln>
        </p:spPr>
        <p:txBody>
          <a:bodyPr/>
          <a:lstStyle/>
          <a:p>
            <a:endParaRPr lang="en-US"/>
          </a:p>
        </p:txBody>
      </p:sp>
      <p:sp>
        <p:nvSpPr>
          <p:cNvPr id="4" name="page-6">
            <a:extLst>
              <a:ext uri="{FF2B5EF4-FFF2-40B4-BE49-F238E27FC236}">
                <a16:creationId xmlns:a16="http://schemas.microsoft.com/office/drawing/2014/main" id="{3C8596DF-E80D-4ECE-A98F-1AC58E456F8C}"/>
              </a:ext>
            </a:extLst>
          </p:cNvPr>
          <p:cNvSpPr>
            <a:spLocks noGrp="1"/>
          </p:cNvSpPr>
          <p:nvPr/>
        </p:nvSpPr>
        <p:spPr>
          <a:xfrm>
            <a:off x="11191875" y="6438900"/>
            <a:ext cx="523875" cy="209550"/>
          </a:xfrm>
          <a:prstGeom prst="rect">
            <a:avLst/>
          </a:prstGeom>
          <a:noFill/>
          <a:ln w="0">
            <a:noFill/>
            <a:prstDash val="solid"/>
          </a:ln>
        </p:spPr>
        <p:txBody>
          <a:bodyPr anchor="t">
            <a:normAutofit fontScale="73809"/>
          </a:bodyPr>
          <a:lstStyle/>
          <a:p>
            <a:pPr algn="r">
              <a:buNone/>
              <a:defRPr sz="1050" b="0">
                <a:solidFill>
                  <a:srgbClr val="60646C"/>
                </a:solidFill>
                <a:latin typeface="Arial"/>
                <a:ea typeface="Arial"/>
                <a:cs typeface="Arial"/>
              </a:defRPr>
            </a:pPr>
            <a:r>
              <a:rPr sz="1050" b="0">
                <a:solidFill>
                  <a:srgbClr val="60646C"/>
                </a:solidFill>
                <a:latin typeface="Arial"/>
                <a:ea typeface="Arial"/>
                <a:cs typeface="Arial"/>
              </a:rPr>
              <a:t>6</a:t>
            </a:r>
          </a:p>
        </p:txBody>
      </p:sp>
      <p:sp>
        <p:nvSpPr>
          <p:cNvPr id="5" name="f-num-0">
            <a:extLst>
              <a:ext uri="{FF2B5EF4-FFF2-40B4-BE49-F238E27FC236}">
                <a16:creationId xmlns:a16="http://schemas.microsoft.com/office/drawing/2014/main" id="{0DAF15C6-33FB-4E31-9ECE-B8E2D50542DD}"/>
              </a:ext>
            </a:extLst>
          </p:cNvPr>
          <p:cNvSpPr>
            <a:spLocks noGrp="1"/>
          </p:cNvSpPr>
          <p:nvPr/>
        </p:nvSpPr>
        <p:spPr>
          <a:xfrm>
            <a:off x="495300" y="1809750"/>
            <a:ext cx="514350" cy="428625"/>
          </a:xfrm>
          <a:prstGeom prst="rect">
            <a:avLst/>
          </a:prstGeom>
          <a:noFill/>
          <a:ln w="0">
            <a:noFill/>
            <a:prstDash val="solid"/>
          </a:ln>
        </p:spPr>
        <p:txBody>
          <a:bodyPr anchor="t">
            <a:normAutofit fontScale="92187"/>
          </a:bodyPr>
          <a:lstStyle/>
          <a:p>
            <a:pPr algn="l">
              <a:buNone/>
              <a:defRPr sz="2400" b="1">
                <a:solidFill>
                  <a:srgbClr val="3D8DFF"/>
                </a:solidFill>
                <a:latin typeface="Arial"/>
                <a:ea typeface="Arial"/>
                <a:cs typeface="Arial"/>
              </a:defRPr>
            </a:pPr>
            <a:r>
              <a:rPr sz="2400" b="1">
                <a:solidFill>
                  <a:srgbClr val="3D8DFF"/>
                </a:solidFill>
                <a:latin typeface="Arial"/>
                <a:ea typeface="Arial"/>
                <a:cs typeface="Arial"/>
              </a:rPr>
              <a:t>1</a:t>
            </a:r>
          </a:p>
        </p:txBody>
      </p:sp>
      <p:sp>
        <p:nvSpPr>
          <p:cNvPr id="6" name="f-head-0">
            <a:extLst>
              <a:ext uri="{FF2B5EF4-FFF2-40B4-BE49-F238E27FC236}">
                <a16:creationId xmlns:a16="http://schemas.microsoft.com/office/drawing/2014/main" id="{A38F4267-B723-43E4-A71B-FE29F07E1F0F}"/>
              </a:ext>
            </a:extLst>
          </p:cNvPr>
          <p:cNvSpPr>
            <a:spLocks noGrp="1"/>
          </p:cNvSpPr>
          <p:nvPr/>
        </p:nvSpPr>
        <p:spPr>
          <a:xfrm>
            <a:off x="1190625" y="1809750"/>
            <a:ext cx="2000250" cy="323850"/>
          </a:xfrm>
          <a:prstGeom prst="rect">
            <a:avLst/>
          </a:prstGeom>
          <a:noFill/>
          <a:ln w="0">
            <a:noFill/>
            <a:prstDash val="solid"/>
          </a:ln>
        </p:spPr>
        <p:txBody>
          <a:bodyPr anchor="t">
            <a:normAutofit fontScale="96825"/>
          </a:bodyPr>
          <a:lstStyle/>
          <a:p>
            <a:pPr algn="l">
              <a:buNone/>
              <a:defRPr sz="1575" b="1">
                <a:solidFill>
                  <a:srgbClr val="111111"/>
                </a:solidFill>
                <a:latin typeface="Arial"/>
                <a:ea typeface="Arial"/>
                <a:cs typeface="Arial"/>
              </a:defRPr>
            </a:pPr>
            <a:r>
              <a:rPr sz="1575" b="1">
                <a:solidFill>
                  <a:srgbClr val="111111"/>
                </a:solidFill>
                <a:latin typeface="Arial"/>
                <a:ea typeface="Arial"/>
                <a:cs typeface="Arial"/>
              </a:rPr>
              <a:t>CLASSIFY</a:t>
            </a:r>
          </a:p>
        </p:txBody>
      </p:sp>
      <p:sp>
        <p:nvSpPr>
          <p:cNvPr id="7" name="f-body-0">
            <a:extLst>
              <a:ext uri="{FF2B5EF4-FFF2-40B4-BE49-F238E27FC236}">
                <a16:creationId xmlns:a16="http://schemas.microsoft.com/office/drawing/2014/main" id="{7768EE7E-91B3-4DD3-A06F-6F817515D258}"/>
              </a:ext>
            </a:extLst>
          </p:cNvPr>
          <p:cNvSpPr>
            <a:spLocks noGrp="1"/>
          </p:cNvSpPr>
          <p:nvPr/>
        </p:nvSpPr>
        <p:spPr>
          <a:xfrm>
            <a:off x="3333750" y="1809750"/>
            <a:ext cx="7810500" cy="476250"/>
          </a:xfrm>
          <a:prstGeom prst="rect">
            <a:avLst/>
          </a:prstGeom>
          <a:noFill/>
          <a:ln w="0">
            <a:noFill/>
            <a:prstDash val="solid"/>
          </a:ln>
        </p:spPr>
        <p:txBody>
          <a:bodyPr anchor="t">
            <a:normAutofit/>
          </a:bodyPr>
          <a:lstStyle/>
          <a:p>
            <a:pPr algn="l">
              <a:buNone/>
              <a:defRPr sz="1650" b="0">
                <a:solidFill>
                  <a:srgbClr val="60646C"/>
                </a:solidFill>
                <a:latin typeface="Arial"/>
                <a:ea typeface="Arial"/>
                <a:cs typeface="Arial"/>
              </a:defRPr>
            </a:pPr>
            <a:r>
              <a:rPr sz="1650" b="0">
                <a:solidFill>
                  <a:srgbClr val="60646C"/>
                </a:solidFill>
                <a:latin typeface="Arial"/>
                <a:ea typeface="Arial"/>
                <a:cs typeface="Arial"/>
              </a:rPr>
              <a:t>Transient · validation · policy · permanent</a:t>
            </a:r>
          </a:p>
        </p:txBody>
      </p:sp>
      <p:sp>
        <p:nvSpPr>
          <p:cNvPr id="8" name="f-num-1">
            <a:extLst>
              <a:ext uri="{FF2B5EF4-FFF2-40B4-BE49-F238E27FC236}">
                <a16:creationId xmlns:a16="http://schemas.microsoft.com/office/drawing/2014/main" id="{E7EBA381-685E-4901-A5BC-FBA55670808F}"/>
              </a:ext>
            </a:extLst>
          </p:cNvPr>
          <p:cNvSpPr>
            <a:spLocks noGrp="1"/>
          </p:cNvSpPr>
          <p:nvPr/>
        </p:nvSpPr>
        <p:spPr>
          <a:xfrm>
            <a:off x="495300" y="2790825"/>
            <a:ext cx="514350" cy="428625"/>
          </a:xfrm>
          <a:prstGeom prst="rect">
            <a:avLst/>
          </a:prstGeom>
          <a:noFill/>
          <a:ln w="0">
            <a:noFill/>
            <a:prstDash val="solid"/>
          </a:ln>
        </p:spPr>
        <p:txBody>
          <a:bodyPr anchor="t">
            <a:normAutofit fontScale="92187"/>
          </a:bodyPr>
          <a:lstStyle/>
          <a:p>
            <a:pPr algn="l">
              <a:buNone/>
              <a:defRPr sz="2400" b="1">
                <a:solidFill>
                  <a:srgbClr val="3D8DFF"/>
                </a:solidFill>
                <a:latin typeface="Arial"/>
                <a:ea typeface="Arial"/>
                <a:cs typeface="Arial"/>
              </a:defRPr>
            </a:pPr>
            <a:r>
              <a:rPr sz="2400" b="1">
                <a:solidFill>
                  <a:srgbClr val="3D8DFF"/>
                </a:solidFill>
                <a:latin typeface="Arial"/>
                <a:ea typeface="Arial"/>
                <a:cs typeface="Arial"/>
              </a:rPr>
              <a:t>2</a:t>
            </a:r>
          </a:p>
        </p:txBody>
      </p:sp>
      <p:sp>
        <p:nvSpPr>
          <p:cNvPr id="9" name="f-head-1">
            <a:extLst>
              <a:ext uri="{FF2B5EF4-FFF2-40B4-BE49-F238E27FC236}">
                <a16:creationId xmlns:a16="http://schemas.microsoft.com/office/drawing/2014/main" id="{596942A1-B58C-431B-B8FE-49C57CFBCBA6}"/>
              </a:ext>
            </a:extLst>
          </p:cNvPr>
          <p:cNvSpPr>
            <a:spLocks noGrp="1"/>
          </p:cNvSpPr>
          <p:nvPr/>
        </p:nvSpPr>
        <p:spPr>
          <a:xfrm>
            <a:off x="1190625" y="2790825"/>
            <a:ext cx="2000250" cy="323850"/>
          </a:xfrm>
          <a:prstGeom prst="rect">
            <a:avLst/>
          </a:prstGeom>
          <a:noFill/>
          <a:ln w="0">
            <a:noFill/>
            <a:prstDash val="solid"/>
          </a:ln>
        </p:spPr>
        <p:txBody>
          <a:bodyPr anchor="t">
            <a:normAutofit fontScale="96825"/>
          </a:bodyPr>
          <a:lstStyle/>
          <a:p>
            <a:pPr algn="l">
              <a:buNone/>
              <a:defRPr sz="1575" b="1">
                <a:solidFill>
                  <a:srgbClr val="111111"/>
                </a:solidFill>
                <a:latin typeface="Arial"/>
                <a:ea typeface="Arial"/>
                <a:cs typeface="Arial"/>
              </a:defRPr>
            </a:pPr>
            <a:r>
              <a:rPr sz="1575" b="1">
                <a:solidFill>
                  <a:srgbClr val="111111"/>
                </a:solidFill>
                <a:latin typeface="Arial"/>
                <a:ea typeface="Arial"/>
                <a:cs typeface="Arial"/>
              </a:rPr>
              <a:t>RETRY</a:t>
            </a:r>
          </a:p>
        </p:txBody>
      </p:sp>
      <p:sp>
        <p:nvSpPr>
          <p:cNvPr id="10" name="f-body-1">
            <a:extLst>
              <a:ext uri="{FF2B5EF4-FFF2-40B4-BE49-F238E27FC236}">
                <a16:creationId xmlns:a16="http://schemas.microsoft.com/office/drawing/2014/main" id="{C1D73E06-BD30-4E2E-9095-58A609D61991}"/>
              </a:ext>
            </a:extLst>
          </p:cNvPr>
          <p:cNvSpPr>
            <a:spLocks noGrp="1"/>
          </p:cNvSpPr>
          <p:nvPr/>
        </p:nvSpPr>
        <p:spPr>
          <a:xfrm>
            <a:off x="3333750" y="2790825"/>
            <a:ext cx="7810500" cy="476250"/>
          </a:xfrm>
          <a:prstGeom prst="rect">
            <a:avLst/>
          </a:prstGeom>
          <a:noFill/>
          <a:ln w="0">
            <a:noFill/>
            <a:prstDash val="solid"/>
          </a:ln>
        </p:spPr>
        <p:txBody>
          <a:bodyPr anchor="t">
            <a:normAutofit/>
          </a:bodyPr>
          <a:lstStyle/>
          <a:p>
            <a:pPr algn="l">
              <a:buNone/>
              <a:defRPr sz="1650" b="0">
                <a:solidFill>
                  <a:srgbClr val="60646C"/>
                </a:solidFill>
                <a:latin typeface="Arial"/>
                <a:ea typeface="Arial"/>
                <a:cs typeface="Arial"/>
              </a:defRPr>
            </a:pPr>
            <a:r>
              <a:rPr sz="1650" b="0">
                <a:solidFill>
                  <a:srgbClr val="60646C"/>
                </a:solidFill>
                <a:latin typeface="Arial"/>
                <a:ea typeface="Arial"/>
                <a:cs typeface="Arial"/>
              </a:rPr>
              <a:t>Only transient failures; maximum three attempts</a:t>
            </a:r>
          </a:p>
        </p:txBody>
      </p:sp>
      <p:sp>
        <p:nvSpPr>
          <p:cNvPr id="11" name="f-num-2">
            <a:extLst>
              <a:ext uri="{FF2B5EF4-FFF2-40B4-BE49-F238E27FC236}">
                <a16:creationId xmlns:a16="http://schemas.microsoft.com/office/drawing/2014/main" id="{B9F820EF-AC04-44AC-85AA-25C9155A3B6D}"/>
              </a:ext>
            </a:extLst>
          </p:cNvPr>
          <p:cNvSpPr>
            <a:spLocks noGrp="1"/>
          </p:cNvSpPr>
          <p:nvPr/>
        </p:nvSpPr>
        <p:spPr>
          <a:xfrm>
            <a:off x="495300" y="3771900"/>
            <a:ext cx="514350" cy="428625"/>
          </a:xfrm>
          <a:prstGeom prst="rect">
            <a:avLst/>
          </a:prstGeom>
          <a:noFill/>
          <a:ln w="0">
            <a:noFill/>
            <a:prstDash val="solid"/>
          </a:ln>
        </p:spPr>
        <p:txBody>
          <a:bodyPr anchor="t">
            <a:normAutofit fontScale="92187"/>
          </a:bodyPr>
          <a:lstStyle/>
          <a:p>
            <a:pPr algn="l">
              <a:buNone/>
              <a:defRPr sz="2400" b="1">
                <a:solidFill>
                  <a:srgbClr val="3D8DFF"/>
                </a:solidFill>
                <a:latin typeface="Arial"/>
                <a:ea typeface="Arial"/>
                <a:cs typeface="Arial"/>
              </a:defRPr>
            </a:pPr>
            <a:r>
              <a:rPr sz="2400" b="1">
                <a:solidFill>
                  <a:srgbClr val="3D8DFF"/>
                </a:solidFill>
                <a:latin typeface="Arial"/>
                <a:ea typeface="Arial"/>
                <a:cs typeface="Arial"/>
              </a:rPr>
              <a:t>3</a:t>
            </a:r>
          </a:p>
        </p:txBody>
      </p:sp>
      <p:sp>
        <p:nvSpPr>
          <p:cNvPr id="12" name="f-head-2">
            <a:extLst>
              <a:ext uri="{FF2B5EF4-FFF2-40B4-BE49-F238E27FC236}">
                <a16:creationId xmlns:a16="http://schemas.microsoft.com/office/drawing/2014/main" id="{8213F347-6818-4AC8-AD52-22A28948BEEF}"/>
              </a:ext>
            </a:extLst>
          </p:cNvPr>
          <p:cNvSpPr>
            <a:spLocks noGrp="1"/>
          </p:cNvSpPr>
          <p:nvPr/>
        </p:nvSpPr>
        <p:spPr>
          <a:xfrm>
            <a:off x="1190625" y="3771900"/>
            <a:ext cx="2000250" cy="323850"/>
          </a:xfrm>
          <a:prstGeom prst="rect">
            <a:avLst/>
          </a:prstGeom>
          <a:noFill/>
          <a:ln w="0">
            <a:noFill/>
            <a:prstDash val="solid"/>
          </a:ln>
        </p:spPr>
        <p:txBody>
          <a:bodyPr anchor="t">
            <a:normAutofit fontScale="96825"/>
          </a:bodyPr>
          <a:lstStyle/>
          <a:p>
            <a:pPr algn="l">
              <a:buNone/>
              <a:defRPr sz="1575" b="1">
                <a:solidFill>
                  <a:srgbClr val="111111"/>
                </a:solidFill>
                <a:latin typeface="Arial"/>
                <a:ea typeface="Arial"/>
                <a:cs typeface="Arial"/>
              </a:defRPr>
            </a:pPr>
            <a:r>
              <a:rPr sz="1575" b="1">
                <a:solidFill>
                  <a:srgbClr val="111111"/>
                </a:solidFill>
                <a:latin typeface="Arial"/>
                <a:ea typeface="Arial"/>
                <a:cs typeface="Arial"/>
              </a:rPr>
              <a:t>SAFE STOP</a:t>
            </a:r>
          </a:p>
        </p:txBody>
      </p:sp>
      <p:sp>
        <p:nvSpPr>
          <p:cNvPr id="13" name="f-body-2">
            <a:extLst>
              <a:ext uri="{FF2B5EF4-FFF2-40B4-BE49-F238E27FC236}">
                <a16:creationId xmlns:a16="http://schemas.microsoft.com/office/drawing/2014/main" id="{5E858453-6824-49A2-AA47-1BE00B3906A3}"/>
              </a:ext>
            </a:extLst>
          </p:cNvPr>
          <p:cNvSpPr>
            <a:spLocks noGrp="1"/>
          </p:cNvSpPr>
          <p:nvPr/>
        </p:nvSpPr>
        <p:spPr>
          <a:xfrm>
            <a:off x="3333750" y="3771900"/>
            <a:ext cx="7810500" cy="476250"/>
          </a:xfrm>
          <a:prstGeom prst="rect">
            <a:avLst/>
          </a:prstGeom>
          <a:noFill/>
          <a:ln w="0">
            <a:noFill/>
            <a:prstDash val="solid"/>
          </a:ln>
        </p:spPr>
        <p:txBody>
          <a:bodyPr anchor="t">
            <a:normAutofit/>
          </a:bodyPr>
          <a:lstStyle/>
          <a:p>
            <a:pPr algn="l">
              <a:buNone/>
              <a:defRPr sz="1650" b="0">
                <a:solidFill>
                  <a:srgbClr val="60646C"/>
                </a:solidFill>
                <a:latin typeface="Arial"/>
                <a:ea typeface="Arial"/>
                <a:cs typeface="Arial"/>
              </a:defRPr>
            </a:pPr>
            <a:r>
              <a:rPr sz="1650" b="0">
                <a:solidFill>
                  <a:srgbClr val="60646C"/>
                </a:solidFill>
                <a:latin typeface="Arial"/>
                <a:ea typeface="Arial"/>
                <a:cs typeface="Arial"/>
              </a:rPr>
              <a:t>Block downstream tasks when the budget is exhausted</a:t>
            </a:r>
          </a:p>
        </p:txBody>
      </p:sp>
      <p:sp>
        <p:nvSpPr>
          <p:cNvPr id="14" name="f-num-3">
            <a:extLst>
              <a:ext uri="{FF2B5EF4-FFF2-40B4-BE49-F238E27FC236}">
                <a16:creationId xmlns:a16="http://schemas.microsoft.com/office/drawing/2014/main" id="{347A4D2A-4442-4D3C-8AA0-1EF933398E4D}"/>
              </a:ext>
            </a:extLst>
          </p:cNvPr>
          <p:cNvSpPr>
            <a:spLocks noGrp="1"/>
          </p:cNvSpPr>
          <p:nvPr/>
        </p:nvSpPr>
        <p:spPr>
          <a:xfrm>
            <a:off x="495300" y="4752975"/>
            <a:ext cx="514350" cy="428625"/>
          </a:xfrm>
          <a:prstGeom prst="rect">
            <a:avLst/>
          </a:prstGeom>
          <a:noFill/>
          <a:ln w="0">
            <a:noFill/>
            <a:prstDash val="solid"/>
          </a:ln>
        </p:spPr>
        <p:txBody>
          <a:bodyPr anchor="t">
            <a:normAutofit fontScale="92187"/>
          </a:bodyPr>
          <a:lstStyle/>
          <a:p>
            <a:pPr algn="l">
              <a:buNone/>
              <a:defRPr sz="2400" b="1">
                <a:solidFill>
                  <a:srgbClr val="3D8DFF"/>
                </a:solidFill>
                <a:latin typeface="Arial"/>
                <a:ea typeface="Arial"/>
                <a:cs typeface="Arial"/>
              </a:defRPr>
            </a:pPr>
            <a:r>
              <a:rPr sz="2400" b="1">
                <a:solidFill>
                  <a:srgbClr val="3D8DFF"/>
                </a:solidFill>
                <a:latin typeface="Arial"/>
                <a:ea typeface="Arial"/>
                <a:cs typeface="Arial"/>
              </a:rPr>
              <a:t>4</a:t>
            </a:r>
          </a:p>
        </p:txBody>
      </p:sp>
      <p:sp>
        <p:nvSpPr>
          <p:cNvPr id="15" name="f-head-3">
            <a:extLst>
              <a:ext uri="{FF2B5EF4-FFF2-40B4-BE49-F238E27FC236}">
                <a16:creationId xmlns:a16="http://schemas.microsoft.com/office/drawing/2014/main" id="{8229BD00-8F3F-488C-A7B5-74AECE682D1A}"/>
              </a:ext>
            </a:extLst>
          </p:cNvPr>
          <p:cNvSpPr>
            <a:spLocks noGrp="1"/>
          </p:cNvSpPr>
          <p:nvPr/>
        </p:nvSpPr>
        <p:spPr>
          <a:xfrm>
            <a:off x="1190625" y="4752975"/>
            <a:ext cx="2000250" cy="323850"/>
          </a:xfrm>
          <a:prstGeom prst="rect">
            <a:avLst/>
          </a:prstGeom>
          <a:noFill/>
          <a:ln w="0">
            <a:noFill/>
            <a:prstDash val="solid"/>
          </a:ln>
        </p:spPr>
        <p:txBody>
          <a:bodyPr anchor="t">
            <a:normAutofit fontScale="96825"/>
          </a:bodyPr>
          <a:lstStyle/>
          <a:p>
            <a:pPr algn="l">
              <a:buNone/>
              <a:defRPr sz="1575" b="1">
                <a:solidFill>
                  <a:srgbClr val="111111"/>
                </a:solidFill>
                <a:latin typeface="Arial"/>
                <a:ea typeface="Arial"/>
                <a:cs typeface="Arial"/>
              </a:defRPr>
            </a:pPr>
            <a:r>
              <a:rPr sz="1575" b="1">
                <a:solidFill>
                  <a:srgbClr val="111111"/>
                </a:solidFill>
                <a:latin typeface="Arial"/>
                <a:ea typeface="Arial"/>
                <a:cs typeface="Arial"/>
              </a:rPr>
              <a:t>RECOVER</a:t>
            </a:r>
          </a:p>
        </p:txBody>
      </p:sp>
      <p:sp>
        <p:nvSpPr>
          <p:cNvPr id="16" name="f-body-3">
            <a:extLst>
              <a:ext uri="{FF2B5EF4-FFF2-40B4-BE49-F238E27FC236}">
                <a16:creationId xmlns:a16="http://schemas.microsoft.com/office/drawing/2014/main" id="{165514D0-78D8-45EF-8E69-D393EE360011}"/>
              </a:ext>
            </a:extLst>
          </p:cNvPr>
          <p:cNvSpPr>
            <a:spLocks noGrp="1"/>
          </p:cNvSpPr>
          <p:nvPr/>
        </p:nvSpPr>
        <p:spPr>
          <a:xfrm>
            <a:off x="3333750" y="4752975"/>
            <a:ext cx="7810500" cy="476250"/>
          </a:xfrm>
          <a:prstGeom prst="rect">
            <a:avLst/>
          </a:prstGeom>
          <a:noFill/>
          <a:ln w="0">
            <a:noFill/>
            <a:prstDash val="solid"/>
          </a:ln>
        </p:spPr>
        <p:txBody>
          <a:bodyPr anchor="t">
            <a:normAutofit/>
          </a:bodyPr>
          <a:lstStyle/>
          <a:p>
            <a:pPr algn="l">
              <a:buNone/>
              <a:defRPr sz="1650" b="0">
                <a:solidFill>
                  <a:srgbClr val="60646C"/>
                </a:solidFill>
                <a:latin typeface="Arial"/>
                <a:ea typeface="Arial"/>
                <a:cs typeface="Arial"/>
              </a:defRPr>
            </a:pPr>
            <a:r>
              <a:rPr sz="1650" b="0">
                <a:solidFill>
                  <a:srgbClr val="60646C"/>
                </a:solidFill>
                <a:latin typeface="Arial"/>
                <a:ea typeface="Arial"/>
                <a:cs typeface="Arial"/>
              </a:rPr>
              <a:t>Rollback reversible completed work in reverse order</a:t>
            </a:r>
          </a:p>
        </p:txBody>
      </p:sp>
      <p:sp>
        <p:nvSpPr>
          <p:cNvPr id="17" name="failure-callout">
            <a:extLst>
              <a:ext uri="{FF2B5EF4-FFF2-40B4-BE49-F238E27FC236}">
                <a16:creationId xmlns:a16="http://schemas.microsoft.com/office/drawing/2014/main" id="{A291C42F-5674-4549-9416-751BE968529C}"/>
              </a:ext>
            </a:extLst>
          </p:cNvPr>
          <p:cNvSpPr>
            <a:spLocks noGrp="1"/>
          </p:cNvSpPr>
          <p:nvPr/>
        </p:nvSpPr>
        <p:spPr>
          <a:xfrm>
            <a:off x="3333750" y="5762625"/>
            <a:ext cx="7810500" cy="38100"/>
          </a:xfrm>
          <a:prstGeom prst="rect">
            <a:avLst/>
          </a:prstGeom>
          <a:solidFill>
            <a:srgbClr val="C43B3B"/>
          </a:solidFill>
          <a:ln w="0">
            <a:noFill/>
            <a:prstDash val="solid"/>
          </a:ln>
        </p:spPr>
        <p:txBody>
          <a:bodyPr/>
          <a:lstStyle/>
          <a:p>
            <a:endParaRPr lang="en-US"/>
          </a:p>
        </p:txBody>
      </p:sp>
      <p:sp>
        <p:nvSpPr>
          <p:cNvPr id="18" name="failure-msg">
            <a:extLst>
              <a:ext uri="{FF2B5EF4-FFF2-40B4-BE49-F238E27FC236}">
                <a16:creationId xmlns:a16="http://schemas.microsoft.com/office/drawing/2014/main" id="{105C583E-DD55-490A-A9AC-94F52C4C1881}"/>
              </a:ext>
            </a:extLst>
          </p:cNvPr>
          <p:cNvSpPr>
            <a:spLocks noGrp="1"/>
          </p:cNvSpPr>
          <p:nvPr/>
        </p:nvSpPr>
        <p:spPr>
          <a:xfrm>
            <a:off x="3333750" y="5953125"/>
            <a:ext cx="7810500" cy="323850"/>
          </a:xfrm>
          <a:prstGeom prst="rect">
            <a:avLst/>
          </a:prstGeom>
          <a:noFill/>
          <a:ln w="0">
            <a:noFill/>
            <a:prstDash val="solid"/>
          </a:ln>
        </p:spPr>
        <p:txBody>
          <a:bodyPr anchor="t">
            <a:normAutofit/>
          </a:bodyPr>
          <a:lstStyle/>
          <a:p>
            <a:pPr algn="l">
              <a:buNone/>
              <a:defRPr sz="1500" b="1">
                <a:solidFill>
                  <a:srgbClr val="C43B3B"/>
                </a:solidFill>
                <a:latin typeface="Arial"/>
                <a:ea typeface="Arial"/>
                <a:cs typeface="Arial"/>
              </a:defRPr>
            </a:pPr>
            <a:r>
              <a:rPr sz="1500" b="1">
                <a:solidFill>
                  <a:srgbClr val="C43B3B"/>
                </a:solidFill>
                <a:latin typeface="Arial"/>
                <a:ea typeface="Arial"/>
                <a:cs typeface="Arial"/>
              </a:rPr>
              <a:t>A policy denial is never retried—even after plan approval.</a:t>
            </a:r>
          </a:p>
        </p:txBody>
      </p:sp>
    </p:spTree>
    <p:extLst>
      <p:ext uri="{BB962C8B-B14F-4D97-AF65-F5344CB8AC3E}">
        <p14:creationId xmlns:p14="http://schemas.microsoft.com/office/powerpoint/2010/main" val="642827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eyebrow-7">
            <a:extLst>
              <a:ext uri="{FF2B5EF4-FFF2-40B4-BE49-F238E27FC236}">
                <a16:creationId xmlns:a16="http://schemas.microsoft.com/office/drawing/2014/main" id="{24391567-A9B9-4C23-B6CB-A57712AF0739}"/>
              </a:ext>
            </a:extLst>
          </p:cNvPr>
          <p:cNvSpPr>
            <a:spLocks noGrp="1"/>
          </p:cNvSpPr>
          <p:nvPr/>
        </p:nvSpPr>
        <p:spPr>
          <a:xfrm>
            <a:off x="457200" y="266700"/>
            <a:ext cx="4762500" cy="266700"/>
          </a:xfrm>
          <a:prstGeom prst="rect">
            <a:avLst/>
          </a:prstGeom>
          <a:noFill/>
          <a:ln w="0">
            <a:noFill/>
            <a:prstDash val="solid"/>
          </a:ln>
        </p:spPr>
        <p:txBody>
          <a:bodyPr anchor="t">
            <a:normAutofit fontScale="95833"/>
          </a:bodyPr>
          <a:lstStyle/>
          <a:p>
            <a:pPr algn="l">
              <a:buNone/>
              <a:defRPr sz="1200" b="1">
                <a:solidFill>
                  <a:srgbClr val="60646C"/>
                </a:solidFill>
                <a:latin typeface="Arial"/>
                <a:ea typeface="Arial"/>
                <a:cs typeface="Arial"/>
              </a:defRPr>
            </a:pPr>
            <a:r>
              <a:rPr sz="1200" b="1">
                <a:solidFill>
                  <a:srgbClr val="60646C"/>
                </a:solidFill>
                <a:latin typeface="Arial"/>
                <a:ea typeface="Arial"/>
                <a:cs typeface="Arial"/>
              </a:rPr>
              <a:t>TINYURL · AGENTIC SDLC</a:t>
            </a:r>
          </a:p>
        </p:txBody>
      </p:sp>
      <p:sp>
        <p:nvSpPr>
          <p:cNvPr id="2" name="title-7">
            <a:extLst>
              <a:ext uri="{FF2B5EF4-FFF2-40B4-BE49-F238E27FC236}">
                <a16:creationId xmlns:a16="http://schemas.microsoft.com/office/drawing/2014/main" id="{6A04FDF6-6DD9-4CD9-92C9-8907AA79C793}"/>
              </a:ext>
            </a:extLst>
          </p:cNvPr>
          <p:cNvSpPr>
            <a:spLocks noGrp="1"/>
          </p:cNvSpPr>
          <p:nvPr/>
        </p:nvSpPr>
        <p:spPr>
          <a:xfrm>
            <a:off x="457200" y="647700"/>
            <a:ext cx="11277600" cy="685800"/>
          </a:xfrm>
          <a:prstGeom prst="rect">
            <a:avLst/>
          </a:prstGeom>
          <a:noFill/>
          <a:ln w="0">
            <a:noFill/>
            <a:prstDash val="solid"/>
          </a:ln>
        </p:spPr>
        <p:txBody>
          <a:bodyPr anchor="t">
            <a:normAutofit/>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The result is measurable and reviewable</a:t>
            </a:r>
          </a:p>
        </p:txBody>
      </p:sp>
      <p:sp>
        <p:nvSpPr>
          <p:cNvPr id="3" name="rule-7">
            <a:extLst>
              <a:ext uri="{FF2B5EF4-FFF2-40B4-BE49-F238E27FC236}">
                <a16:creationId xmlns:a16="http://schemas.microsoft.com/office/drawing/2014/main" id="{5BF31E36-7AEB-4C9D-8FA5-9225F4E36B09}"/>
              </a:ext>
            </a:extLst>
          </p:cNvPr>
          <p:cNvSpPr>
            <a:spLocks noGrp="1"/>
          </p:cNvSpPr>
          <p:nvPr/>
        </p:nvSpPr>
        <p:spPr>
          <a:xfrm>
            <a:off x="457200" y="1409700"/>
            <a:ext cx="11277600" cy="19050"/>
          </a:xfrm>
          <a:prstGeom prst="rect">
            <a:avLst/>
          </a:prstGeom>
          <a:solidFill>
            <a:srgbClr val="B8BCC4"/>
          </a:solidFill>
          <a:ln w="0">
            <a:noFill/>
            <a:prstDash val="solid"/>
          </a:ln>
        </p:spPr>
        <p:txBody>
          <a:bodyPr/>
          <a:lstStyle/>
          <a:p>
            <a:endParaRPr lang="en-US"/>
          </a:p>
        </p:txBody>
      </p:sp>
      <p:sp>
        <p:nvSpPr>
          <p:cNvPr id="4" name="page-7">
            <a:extLst>
              <a:ext uri="{FF2B5EF4-FFF2-40B4-BE49-F238E27FC236}">
                <a16:creationId xmlns:a16="http://schemas.microsoft.com/office/drawing/2014/main" id="{7F96F0DF-C742-449A-9865-825488B8C4CD}"/>
              </a:ext>
            </a:extLst>
          </p:cNvPr>
          <p:cNvSpPr>
            <a:spLocks noGrp="1"/>
          </p:cNvSpPr>
          <p:nvPr/>
        </p:nvSpPr>
        <p:spPr>
          <a:xfrm>
            <a:off x="11191875" y="6438900"/>
            <a:ext cx="523875" cy="209550"/>
          </a:xfrm>
          <a:prstGeom prst="rect">
            <a:avLst/>
          </a:prstGeom>
          <a:noFill/>
          <a:ln w="0">
            <a:noFill/>
            <a:prstDash val="solid"/>
          </a:ln>
        </p:spPr>
        <p:txBody>
          <a:bodyPr anchor="t">
            <a:normAutofit fontScale="73809"/>
          </a:bodyPr>
          <a:lstStyle/>
          <a:p>
            <a:pPr algn="r">
              <a:buNone/>
              <a:defRPr sz="1050" b="0">
                <a:solidFill>
                  <a:srgbClr val="60646C"/>
                </a:solidFill>
                <a:latin typeface="Arial"/>
                <a:ea typeface="Arial"/>
                <a:cs typeface="Arial"/>
              </a:defRPr>
            </a:pPr>
            <a:r>
              <a:rPr sz="1050" b="0">
                <a:solidFill>
                  <a:srgbClr val="60646C"/>
                </a:solidFill>
                <a:latin typeface="Arial"/>
                <a:ea typeface="Arial"/>
                <a:cs typeface="Arial"/>
              </a:rPr>
              <a:t>7</a:t>
            </a:r>
          </a:p>
        </p:txBody>
      </p:sp>
      <p:sp>
        <p:nvSpPr>
          <p:cNvPr id="5" name="metrics-intro">
            <a:extLst>
              <a:ext uri="{FF2B5EF4-FFF2-40B4-BE49-F238E27FC236}">
                <a16:creationId xmlns:a16="http://schemas.microsoft.com/office/drawing/2014/main" id="{96B11B1C-BB5D-4B4D-A7B5-C65576F09A33}"/>
              </a:ext>
            </a:extLst>
          </p:cNvPr>
          <p:cNvSpPr>
            <a:spLocks noGrp="1"/>
          </p:cNvSpPr>
          <p:nvPr/>
        </p:nvSpPr>
        <p:spPr>
          <a:xfrm>
            <a:off x="457200" y="1666875"/>
            <a:ext cx="8572500" cy="400050"/>
          </a:xfrm>
          <a:prstGeom prst="rect">
            <a:avLst/>
          </a:prstGeom>
          <a:noFill/>
          <a:ln w="0">
            <a:noFill/>
            <a:prstDash val="solid"/>
          </a:ln>
        </p:spPr>
        <p:txBody>
          <a:bodyPr anchor="t">
            <a:normAutofit/>
          </a:bodyPr>
          <a:lstStyle/>
          <a:p>
            <a:pPr algn="l">
              <a:buNone/>
              <a:defRPr sz="1650" b="0">
                <a:solidFill>
                  <a:srgbClr val="60646C"/>
                </a:solidFill>
                <a:latin typeface="Arial"/>
                <a:ea typeface="Arial"/>
                <a:cs typeface="Arial"/>
              </a:defRPr>
            </a:pPr>
            <a:r>
              <a:rPr sz="1650" b="0">
                <a:solidFill>
                  <a:srgbClr val="60646C"/>
                </a:solidFill>
                <a:latin typeface="Arial"/>
                <a:ea typeface="Arial"/>
                <a:cs typeface="Arial"/>
              </a:rPr>
              <a:t>Final merged baseline and assessment evidence</a:t>
            </a:r>
          </a:p>
        </p:txBody>
      </p:sp>
      <p:sp>
        <p:nvSpPr>
          <p:cNvPr id="6" name="metric-bg-0">
            <a:extLst>
              <a:ext uri="{FF2B5EF4-FFF2-40B4-BE49-F238E27FC236}">
                <a16:creationId xmlns:a16="http://schemas.microsoft.com/office/drawing/2014/main" id="{E3F57DA3-7D04-43F9-B981-535D728A7CFE}"/>
              </a:ext>
            </a:extLst>
          </p:cNvPr>
          <p:cNvSpPr>
            <a:spLocks noGrp="1"/>
          </p:cNvSpPr>
          <p:nvPr/>
        </p:nvSpPr>
        <p:spPr>
          <a:xfrm>
            <a:off x="457200" y="2571750"/>
            <a:ext cx="3333750" cy="2476500"/>
          </a:xfrm>
          <a:prstGeom prst="roundRect">
            <a:avLst>
              <a:gd name="adj" fmla="val 3077"/>
            </a:avLst>
          </a:prstGeom>
          <a:solidFill>
            <a:srgbClr val="EDEDED"/>
          </a:solidFill>
          <a:ln w="0">
            <a:noFill/>
            <a:prstDash val="solid"/>
          </a:ln>
        </p:spPr>
        <p:txBody>
          <a:bodyPr/>
          <a:lstStyle/>
          <a:p>
            <a:endParaRPr lang="en-US"/>
          </a:p>
        </p:txBody>
      </p:sp>
      <p:sp>
        <p:nvSpPr>
          <p:cNvPr id="7" name="metric-0">
            <a:extLst>
              <a:ext uri="{FF2B5EF4-FFF2-40B4-BE49-F238E27FC236}">
                <a16:creationId xmlns:a16="http://schemas.microsoft.com/office/drawing/2014/main" id="{4BA13B77-43EC-4F29-AD53-808BF22C37E4}"/>
              </a:ext>
            </a:extLst>
          </p:cNvPr>
          <p:cNvSpPr>
            <a:spLocks noGrp="1"/>
          </p:cNvSpPr>
          <p:nvPr/>
        </p:nvSpPr>
        <p:spPr>
          <a:xfrm>
            <a:off x="704850" y="2905125"/>
            <a:ext cx="2838450" cy="1000125"/>
          </a:xfrm>
          <a:prstGeom prst="rect">
            <a:avLst/>
          </a:prstGeom>
          <a:noFill/>
          <a:ln w="0">
            <a:noFill/>
            <a:prstDash val="solid"/>
          </a:ln>
        </p:spPr>
        <p:txBody>
          <a:bodyPr anchor="t">
            <a:normAutofit/>
          </a:bodyPr>
          <a:lstStyle/>
          <a:p>
            <a:pPr algn="l">
              <a:buNone/>
              <a:defRPr sz="4800" b="1">
                <a:solidFill>
                  <a:srgbClr val="3D8DFF"/>
                </a:solidFill>
                <a:latin typeface="Arial"/>
                <a:ea typeface="Arial"/>
                <a:cs typeface="Arial"/>
              </a:defRPr>
            </a:pPr>
            <a:r>
              <a:rPr sz="4800" b="1">
                <a:solidFill>
                  <a:srgbClr val="3D8DFF"/>
                </a:solidFill>
                <a:latin typeface="Arial"/>
                <a:ea typeface="Arial"/>
                <a:cs typeface="Arial"/>
              </a:rPr>
              <a:t>63</a:t>
            </a:r>
          </a:p>
        </p:txBody>
      </p:sp>
      <p:sp>
        <p:nvSpPr>
          <p:cNvPr id="8" name="metric-label-0">
            <a:extLst>
              <a:ext uri="{FF2B5EF4-FFF2-40B4-BE49-F238E27FC236}">
                <a16:creationId xmlns:a16="http://schemas.microsoft.com/office/drawing/2014/main" id="{57BB2BFF-5764-49BB-9098-6E0D17C56C4D}"/>
              </a:ext>
            </a:extLst>
          </p:cNvPr>
          <p:cNvSpPr>
            <a:spLocks noGrp="1"/>
          </p:cNvSpPr>
          <p:nvPr/>
        </p:nvSpPr>
        <p:spPr>
          <a:xfrm>
            <a:off x="704850" y="4095750"/>
            <a:ext cx="2838450" cy="552450"/>
          </a:xfrm>
          <a:prstGeom prst="rect">
            <a:avLst/>
          </a:prstGeom>
          <a:noFill/>
          <a:ln w="0">
            <a:noFill/>
            <a:prstDash val="solid"/>
          </a:ln>
        </p:spPr>
        <p:txBody>
          <a:bodyPr anchor="t">
            <a:normAutofit/>
          </a:bodyPr>
          <a:lstStyle/>
          <a:p>
            <a:pPr algn="l">
              <a:buNone/>
              <a:defRPr sz="1800" b="1">
                <a:solidFill>
                  <a:srgbClr val="111111"/>
                </a:solidFill>
                <a:latin typeface="Arial"/>
                <a:ea typeface="Arial"/>
                <a:cs typeface="Arial"/>
              </a:defRPr>
            </a:pPr>
            <a:r>
              <a:rPr sz="1800" b="1">
                <a:solidFill>
                  <a:srgbClr val="111111"/>
                </a:solidFill>
                <a:latin typeface="Arial"/>
                <a:ea typeface="Arial"/>
                <a:cs typeface="Arial"/>
              </a:rPr>
              <a:t>tests passing</a:t>
            </a:r>
          </a:p>
        </p:txBody>
      </p:sp>
      <p:sp>
        <p:nvSpPr>
          <p:cNvPr id="9" name="metric-bg-1">
            <a:extLst>
              <a:ext uri="{FF2B5EF4-FFF2-40B4-BE49-F238E27FC236}">
                <a16:creationId xmlns:a16="http://schemas.microsoft.com/office/drawing/2014/main" id="{570E2A0E-C2AA-42D7-9FE8-6673787CAAC4}"/>
              </a:ext>
            </a:extLst>
          </p:cNvPr>
          <p:cNvSpPr>
            <a:spLocks noGrp="1"/>
          </p:cNvSpPr>
          <p:nvPr/>
        </p:nvSpPr>
        <p:spPr>
          <a:xfrm>
            <a:off x="4267200" y="2571750"/>
            <a:ext cx="3333750" cy="2476500"/>
          </a:xfrm>
          <a:prstGeom prst="roundRect">
            <a:avLst>
              <a:gd name="adj" fmla="val 3077"/>
            </a:avLst>
          </a:prstGeom>
          <a:solidFill>
            <a:srgbClr val="EDEDED"/>
          </a:solidFill>
          <a:ln w="0">
            <a:noFill/>
            <a:prstDash val="solid"/>
          </a:ln>
        </p:spPr>
        <p:txBody>
          <a:bodyPr/>
          <a:lstStyle/>
          <a:p>
            <a:endParaRPr lang="en-US"/>
          </a:p>
        </p:txBody>
      </p:sp>
      <p:sp>
        <p:nvSpPr>
          <p:cNvPr id="10" name="metric-1">
            <a:extLst>
              <a:ext uri="{FF2B5EF4-FFF2-40B4-BE49-F238E27FC236}">
                <a16:creationId xmlns:a16="http://schemas.microsoft.com/office/drawing/2014/main" id="{60493247-B837-4F34-B8B9-32D141DF860D}"/>
              </a:ext>
            </a:extLst>
          </p:cNvPr>
          <p:cNvSpPr>
            <a:spLocks noGrp="1"/>
          </p:cNvSpPr>
          <p:nvPr/>
        </p:nvSpPr>
        <p:spPr>
          <a:xfrm>
            <a:off x="4514850" y="2905125"/>
            <a:ext cx="2838450" cy="1000125"/>
          </a:xfrm>
          <a:prstGeom prst="rect">
            <a:avLst/>
          </a:prstGeom>
          <a:noFill/>
          <a:ln w="0">
            <a:noFill/>
            <a:prstDash val="solid"/>
          </a:ln>
        </p:spPr>
        <p:txBody>
          <a:bodyPr anchor="t">
            <a:normAutofit/>
          </a:bodyPr>
          <a:lstStyle/>
          <a:p>
            <a:pPr algn="l">
              <a:buNone/>
              <a:defRPr sz="4800" b="1">
                <a:solidFill>
                  <a:srgbClr val="3D8DFF"/>
                </a:solidFill>
                <a:latin typeface="Arial"/>
                <a:ea typeface="Arial"/>
                <a:cs typeface="Arial"/>
              </a:defRPr>
            </a:pPr>
            <a:r>
              <a:rPr sz="4800" b="1">
                <a:solidFill>
                  <a:srgbClr val="3D8DFF"/>
                </a:solidFill>
                <a:latin typeface="Arial"/>
                <a:ea typeface="Arial"/>
                <a:cs typeface="Arial"/>
              </a:rPr>
              <a:t>3</a:t>
            </a:r>
          </a:p>
        </p:txBody>
      </p:sp>
      <p:sp>
        <p:nvSpPr>
          <p:cNvPr id="11" name="metric-label-1">
            <a:extLst>
              <a:ext uri="{FF2B5EF4-FFF2-40B4-BE49-F238E27FC236}">
                <a16:creationId xmlns:a16="http://schemas.microsoft.com/office/drawing/2014/main" id="{39D3C43C-BEA7-4A03-A92E-DEB551B78165}"/>
              </a:ext>
            </a:extLst>
          </p:cNvPr>
          <p:cNvSpPr>
            <a:spLocks noGrp="1"/>
          </p:cNvSpPr>
          <p:nvPr/>
        </p:nvSpPr>
        <p:spPr>
          <a:xfrm>
            <a:off x="4514850" y="4095750"/>
            <a:ext cx="2838450" cy="552450"/>
          </a:xfrm>
          <a:prstGeom prst="rect">
            <a:avLst/>
          </a:prstGeom>
          <a:noFill/>
          <a:ln w="0">
            <a:noFill/>
            <a:prstDash val="solid"/>
          </a:ln>
        </p:spPr>
        <p:txBody>
          <a:bodyPr anchor="t">
            <a:normAutofit/>
          </a:bodyPr>
          <a:lstStyle/>
          <a:p>
            <a:pPr algn="l">
              <a:buNone/>
              <a:defRPr sz="1800" b="1">
                <a:solidFill>
                  <a:srgbClr val="111111"/>
                </a:solidFill>
                <a:latin typeface="Arial"/>
                <a:ea typeface="Arial"/>
                <a:cs typeface="Arial"/>
              </a:defRPr>
            </a:pPr>
            <a:r>
              <a:rPr sz="1800" b="1">
                <a:solidFill>
                  <a:srgbClr val="111111"/>
                </a:solidFill>
                <a:latin typeface="Arial"/>
                <a:ea typeface="Arial"/>
                <a:cs typeface="Arial"/>
              </a:rPr>
              <a:t>SDLC scenarios</a:t>
            </a:r>
          </a:p>
        </p:txBody>
      </p:sp>
      <p:sp>
        <p:nvSpPr>
          <p:cNvPr id="12" name="metric-bg-2">
            <a:extLst>
              <a:ext uri="{FF2B5EF4-FFF2-40B4-BE49-F238E27FC236}">
                <a16:creationId xmlns:a16="http://schemas.microsoft.com/office/drawing/2014/main" id="{29E4A110-BC68-4FFD-A5E8-9F054EEACFDC}"/>
              </a:ext>
            </a:extLst>
          </p:cNvPr>
          <p:cNvSpPr>
            <a:spLocks noGrp="1"/>
          </p:cNvSpPr>
          <p:nvPr/>
        </p:nvSpPr>
        <p:spPr>
          <a:xfrm>
            <a:off x="8077200" y="2571750"/>
            <a:ext cx="3333750" cy="2476500"/>
          </a:xfrm>
          <a:prstGeom prst="roundRect">
            <a:avLst>
              <a:gd name="adj" fmla="val 3077"/>
            </a:avLst>
          </a:prstGeom>
          <a:solidFill>
            <a:srgbClr val="EDEDED"/>
          </a:solidFill>
          <a:ln w="0">
            <a:noFill/>
            <a:prstDash val="solid"/>
          </a:ln>
        </p:spPr>
        <p:txBody>
          <a:bodyPr/>
          <a:lstStyle/>
          <a:p>
            <a:endParaRPr lang="en-US"/>
          </a:p>
        </p:txBody>
      </p:sp>
      <p:sp>
        <p:nvSpPr>
          <p:cNvPr id="13" name="metric-2">
            <a:extLst>
              <a:ext uri="{FF2B5EF4-FFF2-40B4-BE49-F238E27FC236}">
                <a16:creationId xmlns:a16="http://schemas.microsoft.com/office/drawing/2014/main" id="{0A2C0CE1-DE75-4D85-B341-D92BA2276874}"/>
              </a:ext>
            </a:extLst>
          </p:cNvPr>
          <p:cNvSpPr>
            <a:spLocks noGrp="1"/>
          </p:cNvSpPr>
          <p:nvPr/>
        </p:nvSpPr>
        <p:spPr>
          <a:xfrm>
            <a:off x="8324850" y="2905125"/>
            <a:ext cx="2838450" cy="1000125"/>
          </a:xfrm>
          <a:prstGeom prst="rect">
            <a:avLst/>
          </a:prstGeom>
          <a:noFill/>
          <a:ln w="0">
            <a:noFill/>
            <a:prstDash val="solid"/>
          </a:ln>
        </p:spPr>
        <p:txBody>
          <a:bodyPr anchor="t">
            <a:normAutofit/>
          </a:bodyPr>
          <a:lstStyle/>
          <a:p>
            <a:pPr algn="l">
              <a:buNone/>
              <a:defRPr sz="4800" b="1">
                <a:solidFill>
                  <a:srgbClr val="3D8DFF"/>
                </a:solidFill>
                <a:latin typeface="Arial"/>
                <a:ea typeface="Arial"/>
                <a:cs typeface="Arial"/>
              </a:defRPr>
            </a:pPr>
            <a:r>
              <a:rPr sz="4800" b="1">
                <a:solidFill>
                  <a:srgbClr val="3D8DFF"/>
                </a:solidFill>
                <a:latin typeface="Arial"/>
                <a:ea typeface="Arial"/>
                <a:cs typeface="Arial"/>
              </a:rPr>
              <a:t>2</a:t>
            </a:r>
          </a:p>
        </p:txBody>
      </p:sp>
      <p:sp>
        <p:nvSpPr>
          <p:cNvPr id="14" name="metric-label-2">
            <a:extLst>
              <a:ext uri="{FF2B5EF4-FFF2-40B4-BE49-F238E27FC236}">
                <a16:creationId xmlns:a16="http://schemas.microsoft.com/office/drawing/2014/main" id="{23FEEE7D-D647-4B8F-BAD3-EFB08FA3FDF3}"/>
              </a:ext>
            </a:extLst>
          </p:cNvPr>
          <p:cNvSpPr>
            <a:spLocks noGrp="1"/>
          </p:cNvSpPr>
          <p:nvPr/>
        </p:nvSpPr>
        <p:spPr>
          <a:xfrm>
            <a:off x="8324850" y="4095750"/>
            <a:ext cx="2838450" cy="552450"/>
          </a:xfrm>
          <a:prstGeom prst="rect">
            <a:avLst/>
          </a:prstGeom>
          <a:noFill/>
          <a:ln w="0">
            <a:noFill/>
            <a:prstDash val="solid"/>
          </a:ln>
        </p:spPr>
        <p:txBody>
          <a:bodyPr anchor="t">
            <a:normAutofit/>
          </a:bodyPr>
          <a:lstStyle/>
          <a:p>
            <a:pPr algn="l">
              <a:buNone/>
              <a:defRPr sz="1800" b="1">
                <a:solidFill>
                  <a:srgbClr val="111111"/>
                </a:solidFill>
                <a:latin typeface="Arial"/>
                <a:ea typeface="Arial"/>
                <a:cs typeface="Arial"/>
              </a:defRPr>
            </a:pPr>
            <a:r>
              <a:rPr sz="1800" b="1">
                <a:solidFill>
                  <a:srgbClr val="111111"/>
                </a:solidFill>
                <a:latin typeface="Arial"/>
                <a:ea typeface="Arial"/>
                <a:cs typeface="Arial"/>
              </a:rPr>
              <a:t>scoped approval gates</a:t>
            </a:r>
          </a:p>
        </p:txBody>
      </p:sp>
      <p:sp>
        <p:nvSpPr>
          <p:cNvPr id="15" name="metrics-foot">
            <a:extLst>
              <a:ext uri="{FF2B5EF4-FFF2-40B4-BE49-F238E27FC236}">
                <a16:creationId xmlns:a16="http://schemas.microsoft.com/office/drawing/2014/main" id="{3D177B4F-E90F-4E29-B166-62546F9D69C2}"/>
              </a:ext>
            </a:extLst>
          </p:cNvPr>
          <p:cNvSpPr>
            <a:spLocks noGrp="1"/>
          </p:cNvSpPr>
          <p:nvPr/>
        </p:nvSpPr>
        <p:spPr>
          <a:xfrm>
            <a:off x="457200" y="5572125"/>
            <a:ext cx="10763250" cy="571500"/>
          </a:xfrm>
          <a:prstGeom prst="rect">
            <a:avLst/>
          </a:prstGeom>
          <a:noFill/>
          <a:ln w="0">
            <a:noFill/>
            <a:prstDash val="solid"/>
          </a:ln>
        </p:spPr>
        <p:txBody>
          <a:bodyPr anchor="t">
            <a:normAutofit fontScale="95454"/>
          </a:bodyPr>
          <a:lstStyle/>
          <a:p>
            <a:pPr algn="l">
              <a:buNone/>
              <a:defRPr sz="1650" b="0">
                <a:solidFill>
                  <a:srgbClr val="111111"/>
                </a:solidFill>
                <a:latin typeface="Arial"/>
                <a:ea typeface="Arial"/>
                <a:cs typeface="Arial"/>
              </a:defRPr>
            </a:pPr>
            <a:r>
              <a:rPr sz="1650" b="0">
                <a:solidFill>
                  <a:srgbClr val="111111"/>
                </a:solidFill>
                <a:latin typeface="Arial"/>
                <a:ea typeface="Arial"/>
                <a:cs typeface="Arial"/>
              </a:rPr>
              <a:t>Every run records success rate, retries, rollbacks, safe stops, MTTR, latency, task attempts, and criterion-level traceability.</a:t>
            </a:r>
          </a:p>
        </p:txBody>
      </p:sp>
    </p:spTree>
    <p:extLst>
      <p:ext uri="{BB962C8B-B14F-4D97-AF65-F5344CB8AC3E}">
        <p14:creationId xmlns:p14="http://schemas.microsoft.com/office/powerpoint/2010/main" val="1233282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eyebrow-8">
            <a:extLst>
              <a:ext uri="{FF2B5EF4-FFF2-40B4-BE49-F238E27FC236}">
                <a16:creationId xmlns:a16="http://schemas.microsoft.com/office/drawing/2014/main" id="{A1B13DF3-9B54-4253-9510-65C2B09E63FD}"/>
              </a:ext>
            </a:extLst>
          </p:cNvPr>
          <p:cNvSpPr>
            <a:spLocks noGrp="1"/>
          </p:cNvSpPr>
          <p:nvPr/>
        </p:nvSpPr>
        <p:spPr>
          <a:xfrm>
            <a:off x="457200" y="266700"/>
            <a:ext cx="4762500" cy="266700"/>
          </a:xfrm>
          <a:prstGeom prst="rect">
            <a:avLst/>
          </a:prstGeom>
          <a:noFill/>
          <a:ln w="0">
            <a:noFill/>
            <a:prstDash val="solid"/>
          </a:ln>
        </p:spPr>
        <p:txBody>
          <a:bodyPr anchor="t">
            <a:normAutofit fontScale="95833"/>
          </a:bodyPr>
          <a:lstStyle/>
          <a:p>
            <a:pPr algn="l">
              <a:buNone/>
              <a:defRPr sz="1200" b="1">
                <a:solidFill>
                  <a:srgbClr val="60646C"/>
                </a:solidFill>
                <a:latin typeface="Arial"/>
                <a:ea typeface="Arial"/>
                <a:cs typeface="Arial"/>
              </a:defRPr>
            </a:pPr>
            <a:r>
              <a:rPr sz="1200" b="1">
                <a:solidFill>
                  <a:srgbClr val="60646C"/>
                </a:solidFill>
                <a:latin typeface="Arial"/>
                <a:ea typeface="Arial"/>
                <a:cs typeface="Arial"/>
              </a:rPr>
              <a:t>DEMO WALKTHROUGH</a:t>
            </a:r>
          </a:p>
        </p:txBody>
      </p:sp>
      <p:sp>
        <p:nvSpPr>
          <p:cNvPr id="2" name="title-8">
            <a:extLst>
              <a:ext uri="{FF2B5EF4-FFF2-40B4-BE49-F238E27FC236}">
                <a16:creationId xmlns:a16="http://schemas.microsoft.com/office/drawing/2014/main" id="{BED683D0-685A-4E41-B989-EF2A3D6C0C04}"/>
              </a:ext>
            </a:extLst>
          </p:cNvPr>
          <p:cNvSpPr>
            <a:spLocks noGrp="1"/>
          </p:cNvSpPr>
          <p:nvPr/>
        </p:nvSpPr>
        <p:spPr>
          <a:xfrm>
            <a:off x="457200" y="647700"/>
            <a:ext cx="11277600" cy="685800"/>
          </a:xfrm>
          <a:prstGeom prst="rect">
            <a:avLst/>
          </a:prstGeom>
          <a:noFill/>
          <a:ln w="0">
            <a:noFill/>
            <a:prstDash val="solid"/>
          </a:ln>
        </p:spPr>
        <p:txBody>
          <a:bodyPr anchor="t">
            <a:normAutofit/>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The live demo follows one repeatable story</a:t>
            </a:r>
          </a:p>
        </p:txBody>
      </p:sp>
      <p:sp>
        <p:nvSpPr>
          <p:cNvPr id="3" name="rule-8">
            <a:extLst>
              <a:ext uri="{FF2B5EF4-FFF2-40B4-BE49-F238E27FC236}">
                <a16:creationId xmlns:a16="http://schemas.microsoft.com/office/drawing/2014/main" id="{46CBC8D2-A602-4759-B1E5-9A0F5DB1E0E3}"/>
              </a:ext>
            </a:extLst>
          </p:cNvPr>
          <p:cNvSpPr>
            <a:spLocks noGrp="1"/>
          </p:cNvSpPr>
          <p:nvPr/>
        </p:nvSpPr>
        <p:spPr>
          <a:xfrm>
            <a:off x="457200" y="1409700"/>
            <a:ext cx="11277600" cy="19050"/>
          </a:xfrm>
          <a:prstGeom prst="rect">
            <a:avLst/>
          </a:prstGeom>
          <a:solidFill>
            <a:srgbClr val="B8BCC4"/>
          </a:solidFill>
          <a:ln w="0">
            <a:noFill/>
            <a:prstDash val="solid"/>
          </a:ln>
        </p:spPr>
        <p:txBody>
          <a:bodyPr/>
          <a:lstStyle/>
          <a:p>
            <a:endParaRPr lang="en-US"/>
          </a:p>
        </p:txBody>
      </p:sp>
      <p:sp>
        <p:nvSpPr>
          <p:cNvPr id="4" name="page-8">
            <a:extLst>
              <a:ext uri="{FF2B5EF4-FFF2-40B4-BE49-F238E27FC236}">
                <a16:creationId xmlns:a16="http://schemas.microsoft.com/office/drawing/2014/main" id="{3DC95A1C-C1D0-4998-B15B-9A994BC1A30E}"/>
              </a:ext>
            </a:extLst>
          </p:cNvPr>
          <p:cNvSpPr>
            <a:spLocks noGrp="1"/>
          </p:cNvSpPr>
          <p:nvPr/>
        </p:nvSpPr>
        <p:spPr>
          <a:xfrm>
            <a:off x="11191875" y="6438900"/>
            <a:ext cx="523875" cy="209550"/>
          </a:xfrm>
          <a:prstGeom prst="rect">
            <a:avLst/>
          </a:prstGeom>
          <a:noFill/>
          <a:ln w="0">
            <a:noFill/>
            <a:prstDash val="solid"/>
          </a:ln>
        </p:spPr>
        <p:txBody>
          <a:bodyPr anchor="t">
            <a:normAutofit fontScale="73809"/>
          </a:bodyPr>
          <a:lstStyle/>
          <a:p>
            <a:pPr algn="r">
              <a:buNone/>
              <a:defRPr sz="1050" b="0">
                <a:solidFill>
                  <a:srgbClr val="60646C"/>
                </a:solidFill>
                <a:latin typeface="Arial"/>
                <a:ea typeface="Arial"/>
                <a:cs typeface="Arial"/>
              </a:defRPr>
            </a:pPr>
            <a:r>
              <a:rPr sz="1050" b="0">
                <a:solidFill>
                  <a:srgbClr val="60646C"/>
                </a:solidFill>
                <a:latin typeface="Arial"/>
                <a:ea typeface="Arial"/>
                <a:cs typeface="Arial"/>
              </a:rPr>
              <a:t>8</a:t>
            </a:r>
          </a:p>
        </p:txBody>
      </p:sp>
      <p:sp>
        <p:nvSpPr>
          <p:cNvPr id="5" name="demo-line">
            <a:extLst>
              <a:ext uri="{FF2B5EF4-FFF2-40B4-BE49-F238E27FC236}">
                <a16:creationId xmlns:a16="http://schemas.microsoft.com/office/drawing/2014/main" id="{CA106631-EDFB-444B-994B-11B0C5D5F6DA}"/>
              </a:ext>
            </a:extLst>
          </p:cNvPr>
          <p:cNvSpPr>
            <a:spLocks noGrp="1"/>
          </p:cNvSpPr>
          <p:nvPr/>
        </p:nvSpPr>
        <p:spPr>
          <a:xfrm>
            <a:off x="1000125" y="3429000"/>
            <a:ext cx="10001250" cy="28575"/>
          </a:xfrm>
          <a:prstGeom prst="rect">
            <a:avLst/>
          </a:prstGeom>
          <a:solidFill>
            <a:srgbClr val="3D8DFF"/>
          </a:solidFill>
          <a:ln w="0">
            <a:noFill/>
            <a:prstDash val="solid"/>
          </a:ln>
        </p:spPr>
        <p:txBody>
          <a:bodyPr/>
          <a:lstStyle/>
          <a:p>
            <a:endParaRPr lang="en-US"/>
          </a:p>
        </p:txBody>
      </p:sp>
      <p:sp>
        <p:nvSpPr>
          <p:cNvPr id="6" name="demo-dot-0">
            <a:extLst>
              <a:ext uri="{FF2B5EF4-FFF2-40B4-BE49-F238E27FC236}">
                <a16:creationId xmlns:a16="http://schemas.microsoft.com/office/drawing/2014/main" id="{8F75943B-EE88-4B41-9DFE-BEF80169265C}"/>
              </a:ext>
            </a:extLst>
          </p:cNvPr>
          <p:cNvSpPr>
            <a:spLocks noGrp="1"/>
          </p:cNvSpPr>
          <p:nvPr/>
        </p:nvSpPr>
        <p:spPr>
          <a:xfrm>
            <a:off x="914400" y="3257550"/>
            <a:ext cx="361950" cy="361950"/>
          </a:xfrm>
          <a:prstGeom prst="roundRect">
            <a:avLst>
              <a:gd name="adj" fmla="val 21053"/>
            </a:avLst>
          </a:prstGeom>
          <a:solidFill>
            <a:srgbClr val="3D8DFF"/>
          </a:solidFill>
          <a:ln w="0">
            <a:noFill/>
            <a:prstDash val="solid"/>
          </a:ln>
        </p:spPr>
        <p:txBody>
          <a:bodyPr/>
          <a:lstStyle/>
          <a:p>
            <a:endParaRPr lang="en-US"/>
          </a:p>
        </p:txBody>
      </p:sp>
      <p:sp>
        <p:nvSpPr>
          <p:cNvPr id="7" name="demo-label-0">
            <a:extLst>
              <a:ext uri="{FF2B5EF4-FFF2-40B4-BE49-F238E27FC236}">
                <a16:creationId xmlns:a16="http://schemas.microsoft.com/office/drawing/2014/main" id="{6682BF8D-AD6A-4934-968C-FD69273B349A}"/>
              </a:ext>
            </a:extLst>
          </p:cNvPr>
          <p:cNvSpPr>
            <a:spLocks noGrp="1"/>
          </p:cNvSpPr>
          <p:nvPr/>
        </p:nvSpPr>
        <p:spPr>
          <a:xfrm>
            <a:off x="647700" y="2000250"/>
            <a:ext cx="2000250" cy="381000"/>
          </a:xfrm>
          <a:prstGeom prst="rect">
            <a:avLst/>
          </a:prstGeom>
          <a:noFill/>
          <a:ln w="0">
            <a:noFill/>
            <a:prstDash val="solid"/>
          </a:ln>
        </p:spPr>
        <p:txBody>
          <a:bodyPr anchor="t">
            <a:normAutofit/>
          </a:bodyPr>
          <a:lstStyle/>
          <a:p>
            <a:pPr algn="ctr">
              <a:buNone/>
              <a:defRPr sz="1425" b="1">
                <a:solidFill>
                  <a:srgbClr val="3D8DFF"/>
                </a:solidFill>
                <a:latin typeface="Arial"/>
                <a:ea typeface="Arial"/>
                <a:cs typeface="Arial"/>
              </a:defRPr>
            </a:pPr>
            <a:r>
              <a:rPr sz="1425" b="1">
                <a:solidFill>
                  <a:srgbClr val="3D8DFF"/>
                </a:solidFill>
                <a:latin typeface="Arial"/>
                <a:ea typeface="Arial"/>
                <a:cs typeface="Arial"/>
              </a:rPr>
              <a:t>START</a:t>
            </a:r>
          </a:p>
        </p:txBody>
      </p:sp>
      <p:sp>
        <p:nvSpPr>
          <p:cNvPr id="8" name="demo-body-0">
            <a:extLst>
              <a:ext uri="{FF2B5EF4-FFF2-40B4-BE49-F238E27FC236}">
                <a16:creationId xmlns:a16="http://schemas.microsoft.com/office/drawing/2014/main" id="{F4AB49E1-7C44-40C1-92C8-F3CDB94D6A77}"/>
              </a:ext>
            </a:extLst>
          </p:cNvPr>
          <p:cNvSpPr>
            <a:spLocks noGrp="1"/>
          </p:cNvSpPr>
          <p:nvPr/>
        </p:nvSpPr>
        <p:spPr>
          <a:xfrm>
            <a:off x="457200" y="2524125"/>
            <a:ext cx="2381250" cy="619125"/>
          </a:xfrm>
          <a:prstGeom prst="rect">
            <a:avLst/>
          </a:prstGeom>
          <a:noFill/>
          <a:ln w="0">
            <a:noFill/>
            <a:prstDash val="solid"/>
          </a:ln>
        </p:spPr>
        <p:txBody>
          <a:bodyPr anchor="t">
            <a:normAutofit/>
          </a:bodyPr>
          <a:lstStyle/>
          <a:p>
            <a:pPr algn="ctr">
              <a:buNone/>
              <a:defRPr sz="1500" b="0">
                <a:solidFill>
                  <a:srgbClr val="111111"/>
                </a:solidFill>
                <a:latin typeface="Arial"/>
                <a:ea typeface="Arial"/>
                <a:cs typeface="Arial"/>
              </a:defRPr>
            </a:pPr>
            <a:r>
              <a:rPr sz="1500" b="0">
                <a:solidFill>
                  <a:srgbClr val="111111"/>
                </a:solidFill>
                <a:latin typeface="Arial"/>
                <a:ea typeface="Arial"/>
                <a:cs typeface="Arial"/>
              </a:rPr>
              <a:t>Start Spring Boot and run</a:t>
            </a:r>
          </a:p>
          <a:p>
            <a:pPr algn="ctr">
              <a:buNone/>
              <a:defRPr sz="1500" b="0">
                <a:solidFill>
                  <a:srgbClr val="111111"/>
                </a:solidFill>
                <a:latin typeface="Arial"/>
                <a:ea typeface="Arial"/>
                <a:cs typeface="Arial"/>
              </a:defRPr>
            </a:pPr>
            <a:r>
              <a:rPr sz="1500" b="0">
                <a:solidFill>
                  <a:srgbClr val="111111"/>
                </a:solidFill>
                <a:latin typeface="Arial"/>
                <a:ea typeface="Arial"/>
                <a:cs typeface="Arial"/>
              </a:rPr>
              <a:t>demo-all-scenarios.sh</a:t>
            </a:r>
          </a:p>
        </p:txBody>
      </p:sp>
      <p:sp>
        <p:nvSpPr>
          <p:cNvPr id="9" name="demo-step-0">
            <a:extLst>
              <a:ext uri="{FF2B5EF4-FFF2-40B4-BE49-F238E27FC236}">
                <a16:creationId xmlns:a16="http://schemas.microsoft.com/office/drawing/2014/main" id="{D4D78F08-3EB1-46CF-92B9-F6C6650766DA}"/>
              </a:ext>
            </a:extLst>
          </p:cNvPr>
          <p:cNvSpPr>
            <a:spLocks noGrp="1"/>
          </p:cNvSpPr>
          <p:nvPr/>
        </p:nvSpPr>
        <p:spPr>
          <a:xfrm>
            <a:off x="914400" y="3305175"/>
            <a:ext cx="361950" cy="228600"/>
          </a:xfrm>
          <a:prstGeom prst="rect">
            <a:avLst/>
          </a:prstGeom>
          <a:noFill/>
          <a:ln w="0">
            <a:noFill/>
            <a:prstDash val="solid"/>
          </a:ln>
        </p:spPr>
        <p:txBody>
          <a:bodyPr anchor="t">
            <a:normAutofit fontScale="75000"/>
          </a:bodyP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10" name="demo-dot-1">
            <a:extLst>
              <a:ext uri="{FF2B5EF4-FFF2-40B4-BE49-F238E27FC236}">
                <a16:creationId xmlns:a16="http://schemas.microsoft.com/office/drawing/2014/main" id="{55EE4855-C15D-4B45-96FE-7E847B95CD63}"/>
              </a:ext>
            </a:extLst>
          </p:cNvPr>
          <p:cNvSpPr>
            <a:spLocks noGrp="1"/>
          </p:cNvSpPr>
          <p:nvPr/>
        </p:nvSpPr>
        <p:spPr>
          <a:xfrm>
            <a:off x="3771900" y="3257550"/>
            <a:ext cx="361950" cy="361950"/>
          </a:xfrm>
          <a:prstGeom prst="roundRect">
            <a:avLst>
              <a:gd name="adj" fmla="val 21053"/>
            </a:avLst>
          </a:prstGeom>
          <a:solidFill>
            <a:srgbClr val="3D8DFF"/>
          </a:solidFill>
          <a:ln w="0">
            <a:noFill/>
            <a:prstDash val="solid"/>
          </a:ln>
        </p:spPr>
        <p:txBody>
          <a:bodyPr/>
          <a:lstStyle/>
          <a:p>
            <a:endParaRPr lang="en-US"/>
          </a:p>
        </p:txBody>
      </p:sp>
      <p:sp>
        <p:nvSpPr>
          <p:cNvPr id="11" name="demo-label-1">
            <a:extLst>
              <a:ext uri="{FF2B5EF4-FFF2-40B4-BE49-F238E27FC236}">
                <a16:creationId xmlns:a16="http://schemas.microsoft.com/office/drawing/2014/main" id="{4CF68E1D-1014-42D1-975E-D3021C07A2C2}"/>
              </a:ext>
            </a:extLst>
          </p:cNvPr>
          <p:cNvSpPr>
            <a:spLocks noGrp="1"/>
          </p:cNvSpPr>
          <p:nvPr/>
        </p:nvSpPr>
        <p:spPr>
          <a:xfrm>
            <a:off x="3505200" y="2000250"/>
            <a:ext cx="2000250" cy="381000"/>
          </a:xfrm>
          <a:prstGeom prst="rect">
            <a:avLst/>
          </a:prstGeom>
          <a:noFill/>
          <a:ln w="0">
            <a:noFill/>
            <a:prstDash val="solid"/>
          </a:ln>
        </p:spPr>
        <p:txBody>
          <a:bodyPr anchor="t">
            <a:normAutofit/>
          </a:bodyPr>
          <a:lstStyle/>
          <a:p>
            <a:pPr algn="ctr">
              <a:buNone/>
              <a:defRPr sz="1425" b="1">
                <a:solidFill>
                  <a:srgbClr val="3D8DFF"/>
                </a:solidFill>
                <a:latin typeface="Arial"/>
                <a:ea typeface="Arial"/>
                <a:cs typeface="Arial"/>
              </a:defRPr>
            </a:pPr>
            <a:r>
              <a:rPr sz="1425" b="1">
                <a:solidFill>
                  <a:srgbClr val="3D8DFF"/>
                </a:solidFill>
                <a:latin typeface="Arial"/>
                <a:ea typeface="Arial"/>
                <a:cs typeface="Arial"/>
              </a:rPr>
              <a:t>OBSERVE</a:t>
            </a:r>
          </a:p>
        </p:txBody>
      </p:sp>
      <p:sp>
        <p:nvSpPr>
          <p:cNvPr id="12" name="demo-body-1">
            <a:extLst>
              <a:ext uri="{FF2B5EF4-FFF2-40B4-BE49-F238E27FC236}">
                <a16:creationId xmlns:a16="http://schemas.microsoft.com/office/drawing/2014/main" id="{5D9EDB3F-F9DD-4244-80B6-03ECE73C43E0}"/>
              </a:ext>
            </a:extLst>
          </p:cNvPr>
          <p:cNvSpPr>
            <a:spLocks noGrp="1"/>
          </p:cNvSpPr>
          <p:nvPr/>
        </p:nvSpPr>
        <p:spPr>
          <a:xfrm>
            <a:off x="3314700" y="2524125"/>
            <a:ext cx="2381250" cy="619125"/>
          </a:xfrm>
          <a:prstGeom prst="rect">
            <a:avLst/>
          </a:prstGeom>
          <a:noFill/>
          <a:ln w="0">
            <a:noFill/>
            <a:prstDash val="solid"/>
          </a:ln>
        </p:spPr>
        <p:txBody>
          <a:bodyPr anchor="t">
            <a:normAutofit fontScale="86872"/>
          </a:bodyPr>
          <a:lstStyle/>
          <a:p>
            <a:pPr algn="ctr">
              <a:buNone/>
              <a:defRPr sz="1500" b="0">
                <a:solidFill>
                  <a:srgbClr val="111111"/>
                </a:solidFill>
                <a:latin typeface="Arial"/>
                <a:ea typeface="Arial"/>
                <a:cs typeface="Arial"/>
              </a:defRPr>
            </a:pPr>
            <a:r>
              <a:rPr sz="1500" b="0">
                <a:solidFill>
                  <a:srgbClr val="111111"/>
                </a:solidFill>
                <a:latin typeface="Arial"/>
                <a:ea typeface="Arial"/>
                <a:cs typeface="Arial"/>
              </a:rPr>
              <a:t>Show AMBIGUOUS analysis,</a:t>
            </a:r>
          </a:p>
          <a:p>
            <a:pPr algn="ctr">
              <a:buNone/>
              <a:defRPr sz="1500" b="0">
                <a:solidFill>
                  <a:srgbClr val="111111"/>
                </a:solidFill>
                <a:latin typeface="Arial"/>
                <a:ea typeface="Arial"/>
                <a:cs typeface="Arial"/>
              </a:defRPr>
            </a:pPr>
            <a:r>
              <a:rPr sz="1500" b="0">
                <a:solidFill>
                  <a:srgbClr val="111111"/>
                </a:solidFill>
                <a:latin typeface="Arial"/>
                <a:ea typeface="Arial"/>
                <a:cs typeface="Arial"/>
              </a:rPr>
              <a:t>DAG, risks, and approval stop</a:t>
            </a:r>
          </a:p>
        </p:txBody>
      </p:sp>
      <p:sp>
        <p:nvSpPr>
          <p:cNvPr id="13" name="demo-step-1">
            <a:extLst>
              <a:ext uri="{FF2B5EF4-FFF2-40B4-BE49-F238E27FC236}">
                <a16:creationId xmlns:a16="http://schemas.microsoft.com/office/drawing/2014/main" id="{0E77D98C-356A-4360-9EFF-AF50E294B0C8}"/>
              </a:ext>
            </a:extLst>
          </p:cNvPr>
          <p:cNvSpPr>
            <a:spLocks noGrp="1"/>
          </p:cNvSpPr>
          <p:nvPr/>
        </p:nvSpPr>
        <p:spPr>
          <a:xfrm>
            <a:off x="3771900" y="3305175"/>
            <a:ext cx="361950" cy="228600"/>
          </a:xfrm>
          <a:prstGeom prst="rect">
            <a:avLst/>
          </a:prstGeom>
          <a:noFill/>
          <a:ln w="0">
            <a:noFill/>
            <a:prstDash val="solid"/>
          </a:ln>
        </p:spPr>
        <p:txBody>
          <a:bodyPr anchor="t">
            <a:normAutofit fontScale="75000"/>
          </a:bodyP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demo-dot-2">
            <a:extLst>
              <a:ext uri="{FF2B5EF4-FFF2-40B4-BE49-F238E27FC236}">
                <a16:creationId xmlns:a16="http://schemas.microsoft.com/office/drawing/2014/main" id="{B31317C9-568E-431E-B6AC-23D9FAE30382}"/>
              </a:ext>
            </a:extLst>
          </p:cNvPr>
          <p:cNvSpPr>
            <a:spLocks noGrp="1"/>
          </p:cNvSpPr>
          <p:nvPr/>
        </p:nvSpPr>
        <p:spPr>
          <a:xfrm>
            <a:off x="6629400" y="3257550"/>
            <a:ext cx="361950" cy="361950"/>
          </a:xfrm>
          <a:prstGeom prst="roundRect">
            <a:avLst>
              <a:gd name="adj" fmla="val 21053"/>
            </a:avLst>
          </a:prstGeom>
          <a:solidFill>
            <a:srgbClr val="3D8DFF"/>
          </a:solidFill>
          <a:ln w="0">
            <a:noFill/>
            <a:prstDash val="solid"/>
          </a:ln>
        </p:spPr>
        <p:txBody>
          <a:bodyPr/>
          <a:lstStyle/>
          <a:p>
            <a:endParaRPr lang="en-US"/>
          </a:p>
        </p:txBody>
      </p:sp>
      <p:sp>
        <p:nvSpPr>
          <p:cNvPr id="15" name="demo-label-2">
            <a:extLst>
              <a:ext uri="{FF2B5EF4-FFF2-40B4-BE49-F238E27FC236}">
                <a16:creationId xmlns:a16="http://schemas.microsoft.com/office/drawing/2014/main" id="{DF5AFC23-246A-485E-BFC7-7B5F4966689A}"/>
              </a:ext>
            </a:extLst>
          </p:cNvPr>
          <p:cNvSpPr>
            <a:spLocks noGrp="1"/>
          </p:cNvSpPr>
          <p:nvPr/>
        </p:nvSpPr>
        <p:spPr>
          <a:xfrm>
            <a:off x="6362700" y="2000250"/>
            <a:ext cx="2000250" cy="381000"/>
          </a:xfrm>
          <a:prstGeom prst="rect">
            <a:avLst/>
          </a:prstGeom>
          <a:noFill/>
          <a:ln w="0">
            <a:noFill/>
            <a:prstDash val="solid"/>
          </a:ln>
        </p:spPr>
        <p:txBody>
          <a:bodyPr anchor="t">
            <a:normAutofit/>
          </a:bodyPr>
          <a:lstStyle/>
          <a:p>
            <a:pPr algn="ctr">
              <a:buNone/>
              <a:defRPr sz="1425" b="1">
                <a:solidFill>
                  <a:srgbClr val="3D8DFF"/>
                </a:solidFill>
                <a:latin typeface="Arial"/>
                <a:ea typeface="Arial"/>
                <a:cs typeface="Arial"/>
              </a:defRPr>
            </a:pPr>
            <a:r>
              <a:rPr sz="1425" b="1">
                <a:solidFill>
                  <a:srgbClr val="3D8DFF"/>
                </a:solidFill>
                <a:latin typeface="Arial"/>
                <a:ea typeface="Arial"/>
                <a:cs typeface="Arial"/>
              </a:rPr>
              <a:t>APPROVE</a:t>
            </a:r>
          </a:p>
        </p:txBody>
      </p:sp>
      <p:sp>
        <p:nvSpPr>
          <p:cNvPr id="16" name="demo-body-2">
            <a:extLst>
              <a:ext uri="{FF2B5EF4-FFF2-40B4-BE49-F238E27FC236}">
                <a16:creationId xmlns:a16="http://schemas.microsoft.com/office/drawing/2014/main" id="{B2AC94B9-7C65-4811-BD7E-808F473B3D98}"/>
              </a:ext>
            </a:extLst>
          </p:cNvPr>
          <p:cNvSpPr>
            <a:spLocks noGrp="1"/>
          </p:cNvSpPr>
          <p:nvPr/>
        </p:nvSpPr>
        <p:spPr>
          <a:xfrm>
            <a:off x="6172200" y="2524125"/>
            <a:ext cx="2381250" cy="619125"/>
          </a:xfrm>
          <a:prstGeom prst="rect">
            <a:avLst/>
          </a:prstGeom>
          <a:noFill/>
          <a:ln w="0">
            <a:noFill/>
            <a:prstDash val="solid"/>
          </a:ln>
        </p:spPr>
        <p:txBody>
          <a:bodyPr anchor="t">
            <a:normAutofit fontScale="83122"/>
          </a:bodyPr>
          <a:lstStyle/>
          <a:p>
            <a:pPr algn="ctr">
              <a:buNone/>
              <a:defRPr sz="1500" b="0">
                <a:solidFill>
                  <a:srgbClr val="111111"/>
                </a:solidFill>
                <a:latin typeface="Arial"/>
                <a:ea typeface="Arial"/>
                <a:cs typeface="Arial"/>
              </a:defRPr>
            </a:pPr>
            <a:r>
              <a:rPr sz="1500" b="0">
                <a:solidFill>
                  <a:srgbClr val="111111"/>
                </a:solidFill>
                <a:latin typeface="Arial"/>
                <a:ea typeface="Arial"/>
                <a:cs typeface="Arial"/>
              </a:rPr>
              <a:t>Show BROWNFIELD plan gate</a:t>
            </a:r>
          </a:p>
          <a:p>
            <a:pPr algn="ctr">
              <a:buNone/>
              <a:defRPr sz="1500" b="0">
                <a:solidFill>
                  <a:srgbClr val="111111"/>
                </a:solidFill>
                <a:latin typeface="Arial"/>
                <a:ea typeface="Arial"/>
                <a:cs typeface="Arial"/>
              </a:defRPr>
            </a:pPr>
            <a:r>
              <a:rPr sz="1500" b="0">
                <a:solidFill>
                  <a:srgbClr val="111111"/>
                </a:solidFill>
                <a:latin typeface="Arial"/>
                <a:ea typeface="Arial"/>
                <a:cs typeface="Arial"/>
              </a:rPr>
              <a:t>then separate schema gate</a:t>
            </a:r>
          </a:p>
        </p:txBody>
      </p:sp>
      <p:sp>
        <p:nvSpPr>
          <p:cNvPr id="17" name="demo-step-2">
            <a:extLst>
              <a:ext uri="{FF2B5EF4-FFF2-40B4-BE49-F238E27FC236}">
                <a16:creationId xmlns:a16="http://schemas.microsoft.com/office/drawing/2014/main" id="{F9E6DF82-992D-4471-A67B-32AC961E0BE6}"/>
              </a:ext>
            </a:extLst>
          </p:cNvPr>
          <p:cNvSpPr>
            <a:spLocks noGrp="1"/>
          </p:cNvSpPr>
          <p:nvPr/>
        </p:nvSpPr>
        <p:spPr>
          <a:xfrm>
            <a:off x="6629400" y="3305175"/>
            <a:ext cx="361950" cy="228600"/>
          </a:xfrm>
          <a:prstGeom prst="rect">
            <a:avLst/>
          </a:prstGeom>
          <a:noFill/>
          <a:ln w="0">
            <a:noFill/>
            <a:prstDash val="solid"/>
          </a:ln>
        </p:spPr>
        <p:txBody>
          <a:bodyPr anchor="t">
            <a:normAutofit fontScale="75000"/>
          </a:bodyP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8" name="demo-dot-3">
            <a:extLst>
              <a:ext uri="{FF2B5EF4-FFF2-40B4-BE49-F238E27FC236}">
                <a16:creationId xmlns:a16="http://schemas.microsoft.com/office/drawing/2014/main" id="{40927857-2191-480F-8AC1-A0508F6C4640}"/>
              </a:ext>
            </a:extLst>
          </p:cNvPr>
          <p:cNvSpPr>
            <a:spLocks noGrp="1"/>
          </p:cNvSpPr>
          <p:nvPr/>
        </p:nvSpPr>
        <p:spPr>
          <a:xfrm>
            <a:off x="9486900" y="3257550"/>
            <a:ext cx="361950" cy="361950"/>
          </a:xfrm>
          <a:prstGeom prst="roundRect">
            <a:avLst>
              <a:gd name="adj" fmla="val 21053"/>
            </a:avLst>
          </a:prstGeom>
          <a:solidFill>
            <a:srgbClr val="3D8DFF"/>
          </a:solidFill>
          <a:ln w="0">
            <a:noFill/>
            <a:prstDash val="solid"/>
          </a:ln>
        </p:spPr>
        <p:txBody>
          <a:bodyPr/>
          <a:lstStyle/>
          <a:p>
            <a:endParaRPr lang="en-US"/>
          </a:p>
        </p:txBody>
      </p:sp>
      <p:sp>
        <p:nvSpPr>
          <p:cNvPr id="19" name="demo-label-3">
            <a:extLst>
              <a:ext uri="{FF2B5EF4-FFF2-40B4-BE49-F238E27FC236}">
                <a16:creationId xmlns:a16="http://schemas.microsoft.com/office/drawing/2014/main" id="{94CE3CD8-B7FD-4156-A3FC-DD6253C506A1}"/>
              </a:ext>
            </a:extLst>
          </p:cNvPr>
          <p:cNvSpPr>
            <a:spLocks noGrp="1"/>
          </p:cNvSpPr>
          <p:nvPr/>
        </p:nvSpPr>
        <p:spPr>
          <a:xfrm>
            <a:off x="9220200" y="2000250"/>
            <a:ext cx="2000250" cy="381000"/>
          </a:xfrm>
          <a:prstGeom prst="rect">
            <a:avLst/>
          </a:prstGeom>
          <a:noFill/>
          <a:ln w="0">
            <a:noFill/>
            <a:prstDash val="solid"/>
          </a:ln>
        </p:spPr>
        <p:txBody>
          <a:bodyPr anchor="t">
            <a:normAutofit/>
          </a:bodyPr>
          <a:lstStyle/>
          <a:p>
            <a:pPr algn="ctr">
              <a:buNone/>
              <a:defRPr sz="1425" b="1">
                <a:solidFill>
                  <a:srgbClr val="3D8DFF"/>
                </a:solidFill>
                <a:latin typeface="Arial"/>
                <a:ea typeface="Arial"/>
                <a:cs typeface="Arial"/>
              </a:defRPr>
            </a:pPr>
            <a:r>
              <a:rPr sz="1425" b="1">
                <a:solidFill>
                  <a:srgbClr val="3D8DFF"/>
                </a:solidFill>
                <a:latin typeface="Arial"/>
                <a:ea typeface="Arial"/>
                <a:cs typeface="Arial"/>
              </a:rPr>
              <a:t>VERIFY</a:t>
            </a:r>
          </a:p>
        </p:txBody>
      </p:sp>
      <p:sp>
        <p:nvSpPr>
          <p:cNvPr id="20" name="demo-body-3">
            <a:extLst>
              <a:ext uri="{FF2B5EF4-FFF2-40B4-BE49-F238E27FC236}">
                <a16:creationId xmlns:a16="http://schemas.microsoft.com/office/drawing/2014/main" id="{AAD93CA8-8E7B-4F0D-A432-35916D192476}"/>
              </a:ext>
            </a:extLst>
          </p:cNvPr>
          <p:cNvSpPr>
            <a:spLocks noGrp="1"/>
          </p:cNvSpPr>
          <p:nvPr/>
        </p:nvSpPr>
        <p:spPr>
          <a:xfrm>
            <a:off x="9029700" y="2524125"/>
            <a:ext cx="2381250" cy="619125"/>
          </a:xfrm>
          <a:prstGeom prst="rect">
            <a:avLst/>
          </a:prstGeom>
          <a:noFill/>
          <a:ln w="0">
            <a:noFill/>
            <a:prstDash val="solid"/>
          </a:ln>
        </p:spPr>
        <p:txBody>
          <a:bodyPr anchor="t">
            <a:normAutofit/>
          </a:bodyPr>
          <a:lstStyle/>
          <a:p>
            <a:pPr algn="ctr">
              <a:buNone/>
              <a:defRPr sz="1500" b="0">
                <a:solidFill>
                  <a:srgbClr val="111111"/>
                </a:solidFill>
                <a:latin typeface="Arial"/>
                <a:ea typeface="Arial"/>
                <a:cs typeface="Arial"/>
              </a:defRPr>
            </a:pPr>
            <a:r>
              <a:rPr sz="1500" b="0">
                <a:solidFill>
                  <a:srgbClr val="111111"/>
                </a:solidFill>
                <a:latin typeface="Arial"/>
                <a:ea typeface="Arial"/>
                <a:cs typeface="Arial"/>
              </a:rPr>
              <a:t>Open metrics, events,</a:t>
            </a:r>
          </a:p>
          <a:p>
            <a:pPr algn="ctr">
              <a:buNone/>
              <a:defRPr sz="1500" b="0">
                <a:solidFill>
                  <a:srgbClr val="111111"/>
                </a:solidFill>
                <a:latin typeface="Arial"/>
                <a:ea typeface="Arial"/>
                <a:cs typeface="Arial"/>
              </a:defRPr>
            </a:pPr>
            <a:r>
              <a:rPr sz="1500" b="0">
                <a:solidFill>
                  <a:srgbClr val="111111"/>
                </a:solidFill>
                <a:latin typeface="Arial"/>
                <a:ea typeface="Arial"/>
                <a:cs typeface="Arial"/>
              </a:rPr>
              <a:t>traceability, and summary</a:t>
            </a:r>
          </a:p>
        </p:txBody>
      </p:sp>
      <p:sp>
        <p:nvSpPr>
          <p:cNvPr id="21" name="demo-step-3">
            <a:extLst>
              <a:ext uri="{FF2B5EF4-FFF2-40B4-BE49-F238E27FC236}">
                <a16:creationId xmlns:a16="http://schemas.microsoft.com/office/drawing/2014/main" id="{8024DFC4-6328-4FA4-9A99-9F53200945C7}"/>
              </a:ext>
            </a:extLst>
          </p:cNvPr>
          <p:cNvSpPr>
            <a:spLocks noGrp="1"/>
          </p:cNvSpPr>
          <p:nvPr/>
        </p:nvSpPr>
        <p:spPr>
          <a:xfrm>
            <a:off x="9486900" y="3305175"/>
            <a:ext cx="361950" cy="228600"/>
          </a:xfrm>
          <a:prstGeom prst="rect">
            <a:avLst/>
          </a:prstGeom>
          <a:noFill/>
          <a:ln w="0">
            <a:noFill/>
            <a:prstDash val="solid"/>
          </a:ln>
        </p:spPr>
        <p:txBody>
          <a:bodyPr anchor="t">
            <a:normAutofit fontScale="75000"/>
          </a:bodyP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2" name="demo-close">
            <a:extLst>
              <a:ext uri="{FF2B5EF4-FFF2-40B4-BE49-F238E27FC236}">
                <a16:creationId xmlns:a16="http://schemas.microsoft.com/office/drawing/2014/main" id="{C405E5CB-330B-479D-9C4C-68779F4B42F7}"/>
              </a:ext>
            </a:extLst>
          </p:cNvPr>
          <p:cNvSpPr>
            <a:spLocks noGrp="1"/>
          </p:cNvSpPr>
          <p:nvPr/>
        </p:nvSpPr>
        <p:spPr>
          <a:xfrm>
            <a:off x="1381125" y="4762500"/>
            <a:ext cx="9429750" cy="762000"/>
          </a:xfrm>
          <a:prstGeom prst="rect">
            <a:avLst/>
          </a:prstGeom>
          <a:noFill/>
          <a:ln w="0">
            <a:noFill/>
            <a:prstDash val="solid"/>
          </a:ln>
        </p:spPr>
        <p:txBody>
          <a:bodyPr anchor="t">
            <a:normAutofit/>
          </a:bodyPr>
          <a:lstStyle/>
          <a:p>
            <a:pPr algn="ctr">
              <a:buNone/>
              <a:defRPr sz="1875" b="1">
                <a:solidFill>
                  <a:srgbClr val="111111"/>
                </a:solidFill>
                <a:latin typeface="Arial"/>
                <a:ea typeface="Arial"/>
                <a:cs typeface="Arial"/>
              </a:defRPr>
            </a:pPr>
            <a:r>
              <a:rPr sz="1875" b="1">
                <a:solidFill>
                  <a:srgbClr val="111111"/>
                </a:solidFill>
                <a:latin typeface="Arial"/>
                <a:ea typeface="Arial"/>
                <a:cs typeface="Arial"/>
              </a:rPr>
              <a:t>If time is tight: demonstrate ambiguous approval + brownfield schema approval, then show pre-generated recovery tests and artifacts.</a:t>
            </a:r>
          </a:p>
        </p:txBody>
      </p:sp>
    </p:spTree>
    <p:extLst>
      <p:ext uri="{BB962C8B-B14F-4D97-AF65-F5344CB8AC3E}">
        <p14:creationId xmlns:p14="http://schemas.microsoft.com/office/powerpoint/2010/main" val="1574768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eyebrow-9">
            <a:extLst>
              <a:ext uri="{FF2B5EF4-FFF2-40B4-BE49-F238E27FC236}">
                <a16:creationId xmlns:a16="http://schemas.microsoft.com/office/drawing/2014/main" id="{C5CA4C18-FFB5-4F4B-AB37-B557918575ED}"/>
              </a:ext>
            </a:extLst>
          </p:cNvPr>
          <p:cNvSpPr>
            <a:spLocks noGrp="1"/>
          </p:cNvSpPr>
          <p:nvPr/>
        </p:nvSpPr>
        <p:spPr>
          <a:xfrm>
            <a:off x="457200" y="266700"/>
            <a:ext cx="4762500" cy="266700"/>
          </a:xfrm>
          <a:prstGeom prst="rect">
            <a:avLst/>
          </a:prstGeom>
          <a:noFill/>
          <a:ln w="0">
            <a:noFill/>
            <a:prstDash val="solid"/>
          </a:ln>
        </p:spPr>
        <p:txBody>
          <a:bodyPr anchor="t">
            <a:normAutofit fontScale="95833"/>
          </a:bodyPr>
          <a:lstStyle/>
          <a:p>
            <a:pPr algn="l">
              <a:buNone/>
              <a:defRPr sz="1200" b="1">
                <a:solidFill>
                  <a:srgbClr val="60646C"/>
                </a:solidFill>
                <a:latin typeface="Arial"/>
                <a:ea typeface="Arial"/>
                <a:cs typeface="Arial"/>
              </a:defRPr>
            </a:pPr>
            <a:r>
              <a:rPr sz="1200" b="1">
                <a:solidFill>
                  <a:srgbClr val="60646C"/>
                </a:solidFill>
                <a:latin typeface="Arial"/>
                <a:ea typeface="Arial"/>
                <a:cs typeface="Arial"/>
              </a:rPr>
              <a:t>TINYURL · AGENTIC SDLC</a:t>
            </a:r>
          </a:p>
        </p:txBody>
      </p:sp>
      <p:sp>
        <p:nvSpPr>
          <p:cNvPr id="2" name="title-9">
            <a:extLst>
              <a:ext uri="{FF2B5EF4-FFF2-40B4-BE49-F238E27FC236}">
                <a16:creationId xmlns:a16="http://schemas.microsoft.com/office/drawing/2014/main" id="{B7899457-142E-45F3-9B61-CC64537B8747}"/>
              </a:ext>
            </a:extLst>
          </p:cNvPr>
          <p:cNvSpPr>
            <a:spLocks noGrp="1"/>
          </p:cNvSpPr>
          <p:nvPr/>
        </p:nvSpPr>
        <p:spPr>
          <a:xfrm>
            <a:off x="457200" y="647700"/>
            <a:ext cx="11277600" cy="685800"/>
          </a:xfrm>
          <a:prstGeom prst="rect">
            <a:avLst/>
          </a:prstGeom>
          <a:noFill/>
          <a:ln w="0">
            <a:noFill/>
            <a:prstDash val="solid"/>
          </a:ln>
        </p:spPr>
        <p:txBody>
          <a:bodyPr anchor="t">
            <a:normAutofit/>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Engineering judgment includes accepted limitations</a:t>
            </a:r>
          </a:p>
        </p:txBody>
      </p:sp>
      <p:sp>
        <p:nvSpPr>
          <p:cNvPr id="3" name="rule-9">
            <a:extLst>
              <a:ext uri="{FF2B5EF4-FFF2-40B4-BE49-F238E27FC236}">
                <a16:creationId xmlns:a16="http://schemas.microsoft.com/office/drawing/2014/main" id="{5165FE23-F264-4561-82B3-F1B530DE4FA6}"/>
              </a:ext>
            </a:extLst>
          </p:cNvPr>
          <p:cNvSpPr>
            <a:spLocks noGrp="1"/>
          </p:cNvSpPr>
          <p:nvPr/>
        </p:nvSpPr>
        <p:spPr>
          <a:xfrm>
            <a:off x="457200" y="1409700"/>
            <a:ext cx="11277600" cy="19050"/>
          </a:xfrm>
          <a:prstGeom prst="rect">
            <a:avLst/>
          </a:prstGeom>
          <a:solidFill>
            <a:srgbClr val="B8BCC4"/>
          </a:solidFill>
          <a:ln w="0">
            <a:noFill/>
            <a:prstDash val="solid"/>
          </a:ln>
        </p:spPr>
        <p:txBody>
          <a:bodyPr/>
          <a:lstStyle/>
          <a:p>
            <a:endParaRPr lang="en-US"/>
          </a:p>
        </p:txBody>
      </p:sp>
      <p:sp>
        <p:nvSpPr>
          <p:cNvPr id="4" name="page-9">
            <a:extLst>
              <a:ext uri="{FF2B5EF4-FFF2-40B4-BE49-F238E27FC236}">
                <a16:creationId xmlns:a16="http://schemas.microsoft.com/office/drawing/2014/main" id="{3A776D9A-EB0A-4687-8781-8845FB79B973}"/>
              </a:ext>
            </a:extLst>
          </p:cNvPr>
          <p:cNvSpPr>
            <a:spLocks noGrp="1"/>
          </p:cNvSpPr>
          <p:nvPr/>
        </p:nvSpPr>
        <p:spPr>
          <a:xfrm>
            <a:off x="11191875" y="6438900"/>
            <a:ext cx="523875" cy="209550"/>
          </a:xfrm>
          <a:prstGeom prst="rect">
            <a:avLst/>
          </a:prstGeom>
          <a:noFill/>
          <a:ln w="0">
            <a:noFill/>
            <a:prstDash val="solid"/>
          </a:ln>
        </p:spPr>
        <p:txBody>
          <a:bodyPr anchor="t">
            <a:normAutofit fontScale="73809"/>
          </a:bodyPr>
          <a:lstStyle/>
          <a:p>
            <a:pPr algn="r">
              <a:buNone/>
              <a:defRPr sz="1050" b="0">
                <a:solidFill>
                  <a:srgbClr val="60646C"/>
                </a:solidFill>
                <a:latin typeface="Arial"/>
                <a:ea typeface="Arial"/>
                <a:cs typeface="Arial"/>
              </a:defRPr>
            </a:pPr>
            <a:r>
              <a:rPr sz="1050" b="0">
                <a:solidFill>
                  <a:srgbClr val="60646C"/>
                </a:solidFill>
                <a:latin typeface="Arial"/>
                <a:ea typeface="Arial"/>
                <a:cs typeface="Arial"/>
              </a:rPr>
              <a:t>9</a:t>
            </a:r>
          </a:p>
        </p:txBody>
      </p:sp>
      <p:sp>
        <p:nvSpPr>
          <p:cNvPr id="5" name="judgment-left">
            <a:extLst>
              <a:ext uri="{FF2B5EF4-FFF2-40B4-BE49-F238E27FC236}">
                <a16:creationId xmlns:a16="http://schemas.microsoft.com/office/drawing/2014/main" id="{3E05D44C-FDA7-4072-9DBC-CA6D74E3B785}"/>
              </a:ext>
            </a:extLst>
          </p:cNvPr>
          <p:cNvSpPr>
            <a:spLocks noGrp="1"/>
          </p:cNvSpPr>
          <p:nvPr/>
        </p:nvSpPr>
        <p:spPr>
          <a:xfrm>
            <a:off x="457200" y="1809750"/>
            <a:ext cx="5238750" cy="3810000"/>
          </a:xfrm>
          <a:prstGeom prst="roundRect">
            <a:avLst>
              <a:gd name="adj" fmla="val 2000"/>
            </a:avLst>
          </a:prstGeom>
          <a:solidFill>
            <a:srgbClr val="D0EDFA"/>
          </a:solidFill>
          <a:ln w="0">
            <a:noFill/>
            <a:prstDash val="solid"/>
          </a:ln>
        </p:spPr>
        <p:txBody>
          <a:bodyPr/>
          <a:lstStyle/>
          <a:p>
            <a:endParaRPr lang="en-US"/>
          </a:p>
        </p:txBody>
      </p:sp>
      <p:sp>
        <p:nvSpPr>
          <p:cNvPr id="6" name="judgment-right">
            <a:extLst>
              <a:ext uri="{FF2B5EF4-FFF2-40B4-BE49-F238E27FC236}">
                <a16:creationId xmlns:a16="http://schemas.microsoft.com/office/drawing/2014/main" id="{78379956-3373-4CA5-84A6-339F85F479EF}"/>
              </a:ext>
            </a:extLst>
          </p:cNvPr>
          <p:cNvSpPr>
            <a:spLocks noGrp="1"/>
          </p:cNvSpPr>
          <p:nvPr/>
        </p:nvSpPr>
        <p:spPr>
          <a:xfrm>
            <a:off x="6048375" y="1809750"/>
            <a:ext cx="5686425" cy="3810000"/>
          </a:xfrm>
          <a:prstGeom prst="roundRect">
            <a:avLst>
              <a:gd name="adj" fmla="val 2000"/>
            </a:avLst>
          </a:prstGeom>
          <a:solidFill>
            <a:srgbClr val="EDEDED"/>
          </a:solidFill>
          <a:ln w="0">
            <a:noFill/>
            <a:prstDash val="solid"/>
          </a:ln>
        </p:spPr>
        <p:txBody>
          <a:bodyPr/>
          <a:lstStyle/>
          <a:p>
            <a:endParaRPr lang="en-US"/>
          </a:p>
        </p:txBody>
      </p:sp>
      <p:sp>
        <p:nvSpPr>
          <p:cNvPr id="7" name="jl-title">
            <a:extLst>
              <a:ext uri="{FF2B5EF4-FFF2-40B4-BE49-F238E27FC236}">
                <a16:creationId xmlns:a16="http://schemas.microsoft.com/office/drawing/2014/main" id="{E51A380C-C971-494B-AC62-0CDBBC256BF6}"/>
              </a:ext>
            </a:extLst>
          </p:cNvPr>
          <p:cNvSpPr>
            <a:spLocks noGrp="1"/>
          </p:cNvSpPr>
          <p:nvPr/>
        </p:nvSpPr>
        <p:spPr>
          <a:xfrm>
            <a:off x="742950" y="2095500"/>
            <a:ext cx="4572000" cy="333375"/>
          </a:xfrm>
          <a:prstGeom prst="rect">
            <a:avLst/>
          </a:prstGeom>
          <a:noFill/>
          <a:ln w="0">
            <a:noFill/>
            <a:prstDash val="solid"/>
          </a:ln>
        </p:spPr>
        <p:txBody>
          <a:bodyPr anchor="t">
            <a:normAutofit fontScale="96212"/>
          </a:bodyPr>
          <a:lstStyle/>
          <a:p>
            <a:pPr algn="l">
              <a:buNone/>
              <a:defRPr sz="1650" b="1">
                <a:solidFill>
                  <a:srgbClr val="111111"/>
                </a:solidFill>
                <a:latin typeface="Arial"/>
                <a:ea typeface="Arial"/>
                <a:cs typeface="Arial"/>
              </a:defRPr>
            </a:pPr>
            <a:r>
              <a:rPr sz="1650" b="1">
                <a:solidFill>
                  <a:srgbClr val="111111"/>
                </a:solidFill>
                <a:latin typeface="Arial"/>
                <a:ea typeface="Arial"/>
                <a:cs typeface="Arial"/>
              </a:rPr>
              <a:t>WHY THESE CHOICES</a:t>
            </a:r>
          </a:p>
        </p:txBody>
      </p:sp>
      <p:sp>
        <p:nvSpPr>
          <p:cNvPr id="8" name="jr-title">
            <a:extLst>
              <a:ext uri="{FF2B5EF4-FFF2-40B4-BE49-F238E27FC236}">
                <a16:creationId xmlns:a16="http://schemas.microsoft.com/office/drawing/2014/main" id="{F77152B1-6BD0-41B2-9D85-206BCEEB7254}"/>
              </a:ext>
            </a:extLst>
          </p:cNvPr>
          <p:cNvSpPr>
            <a:spLocks noGrp="1"/>
          </p:cNvSpPr>
          <p:nvPr/>
        </p:nvSpPr>
        <p:spPr>
          <a:xfrm>
            <a:off x="6334125" y="2095500"/>
            <a:ext cx="4953000" cy="333375"/>
          </a:xfrm>
          <a:prstGeom prst="rect">
            <a:avLst/>
          </a:prstGeom>
          <a:noFill/>
          <a:ln w="0">
            <a:noFill/>
            <a:prstDash val="solid"/>
          </a:ln>
        </p:spPr>
        <p:txBody>
          <a:bodyPr anchor="t">
            <a:normAutofit fontScale="96212"/>
          </a:bodyPr>
          <a:lstStyle/>
          <a:p>
            <a:pPr algn="l">
              <a:buNone/>
              <a:defRPr sz="1650" b="1">
                <a:solidFill>
                  <a:srgbClr val="111111"/>
                </a:solidFill>
                <a:latin typeface="Arial"/>
                <a:ea typeface="Arial"/>
                <a:cs typeface="Arial"/>
              </a:defRPr>
            </a:pPr>
            <a:r>
              <a:rPr sz="1650" b="1">
                <a:solidFill>
                  <a:srgbClr val="111111"/>
                </a:solidFill>
                <a:latin typeface="Arial"/>
                <a:ea typeface="Arial"/>
                <a:cs typeface="Arial"/>
              </a:rPr>
              <a:t>ACCEPTED ANALYTICS LIMITATIONS</a:t>
            </a:r>
          </a:p>
        </p:txBody>
      </p:sp>
      <p:sp>
        <p:nvSpPr>
          <p:cNvPr id="9" name="jl-body">
            <a:extLst>
              <a:ext uri="{FF2B5EF4-FFF2-40B4-BE49-F238E27FC236}">
                <a16:creationId xmlns:a16="http://schemas.microsoft.com/office/drawing/2014/main" id="{CD7EC8AD-FA35-4B7B-B3F8-57A8FC747878}"/>
              </a:ext>
            </a:extLst>
          </p:cNvPr>
          <p:cNvSpPr>
            <a:spLocks noGrp="1"/>
          </p:cNvSpPr>
          <p:nvPr/>
        </p:nvSpPr>
        <p:spPr>
          <a:xfrm>
            <a:off x="742950" y="2714625"/>
            <a:ext cx="4572000" cy="2381250"/>
          </a:xfrm>
          <a:prstGeom prst="rect">
            <a:avLst/>
          </a:prstGeom>
          <a:noFill/>
          <a:ln w="0">
            <a:noFill/>
            <a:prstDash val="solid"/>
          </a:ln>
        </p:spPr>
        <p:txBody>
          <a:bodyPr anchor="t">
            <a:normAutofit/>
          </a:bodyPr>
          <a:lstStyle/>
          <a:p>
            <a:pPr algn="l">
              <a:buNone/>
              <a:defRPr sz="1650" b="0">
                <a:solidFill>
                  <a:srgbClr val="60646C"/>
                </a:solidFill>
                <a:latin typeface="Arial"/>
                <a:ea typeface="Arial"/>
                <a:cs typeface="Arial"/>
              </a:defRPr>
            </a:pPr>
            <a:r>
              <a:rPr sz="1650" b="0">
                <a:solidFill>
                  <a:srgbClr val="60646C"/>
                </a:solidFill>
                <a:latin typeface="Arial"/>
                <a:ea typeface="Arial"/>
                <a:cs typeface="Arial"/>
              </a:rPr>
              <a:t>• Flyway owns schema; Hibernate validates</a:t>
            </a:r>
          </a:p>
          <a:p>
            <a:endParaRPr sz="1650" b="0">
              <a:solidFill>
                <a:srgbClr val="60646C"/>
              </a:solidFill>
              <a:latin typeface="Arial"/>
              <a:ea typeface="Arial"/>
              <a:cs typeface="Arial"/>
            </a:endParaRPr>
          </a:p>
          <a:p>
            <a:pPr algn="l">
              <a:buNone/>
              <a:defRPr sz="1650" b="0">
                <a:solidFill>
                  <a:srgbClr val="60646C"/>
                </a:solidFill>
                <a:latin typeface="Arial"/>
                <a:ea typeface="Arial"/>
                <a:cs typeface="Arial"/>
              </a:defRPr>
            </a:pPr>
            <a:r>
              <a:rPr sz="1650" b="0">
                <a:solidFill>
                  <a:srgbClr val="60646C"/>
                </a:solidFill>
                <a:latin typeface="Arial"/>
                <a:ea typeface="Arial"/>
                <a:cs typeface="Arial"/>
              </a:rPr>
              <a:t>• Aggregate analytics avoids visitor tracking</a:t>
            </a:r>
          </a:p>
          <a:p>
            <a:endParaRPr sz="1650" b="0">
              <a:solidFill>
                <a:srgbClr val="60646C"/>
              </a:solidFill>
              <a:latin typeface="Arial"/>
              <a:ea typeface="Arial"/>
              <a:cs typeface="Arial"/>
            </a:endParaRPr>
          </a:p>
          <a:p>
            <a:pPr algn="l">
              <a:buNone/>
              <a:defRPr sz="1650" b="0">
                <a:solidFill>
                  <a:srgbClr val="60646C"/>
                </a:solidFill>
                <a:latin typeface="Arial"/>
                <a:ea typeface="Arial"/>
                <a:cs typeface="Arial"/>
              </a:defRPr>
            </a:pPr>
            <a:r>
              <a:rPr sz="1650" b="0">
                <a:solidFill>
                  <a:srgbClr val="60646C"/>
                </a:solidFill>
                <a:latin typeface="Arial"/>
                <a:ea typeface="Arial"/>
                <a:cs typeface="Arial"/>
              </a:rPr>
              <a:t>• Command output is digested, not persisted</a:t>
            </a:r>
          </a:p>
          <a:p>
            <a:endParaRPr sz="1650" b="0">
              <a:solidFill>
                <a:srgbClr val="60646C"/>
              </a:solidFill>
              <a:latin typeface="Arial"/>
              <a:ea typeface="Arial"/>
              <a:cs typeface="Arial"/>
            </a:endParaRPr>
          </a:p>
          <a:p>
            <a:pPr algn="l">
              <a:buNone/>
              <a:defRPr sz="1650" b="0">
                <a:solidFill>
                  <a:srgbClr val="60646C"/>
                </a:solidFill>
                <a:latin typeface="Arial"/>
                <a:ea typeface="Arial"/>
                <a:cs typeface="Arial"/>
              </a:defRPr>
            </a:pPr>
            <a:r>
              <a:rPr sz="1650" b="0">
                <a:solidFill>
                  <a:srgbClr val="60646C"/>
                </a:solidFill>
                <a:latin typeface="Arial"/>
                <a:ea typeface="Arial"/>
                <a:cs typeface="Arial"/>
              </a:rPr>
              <a:t>• PR merge remains the release authorization</a:t>
            </a:r>
          </a:p>
        </p:txBody>
      </p:sp>
      <p:sp>
        <p:nvSpPr>
          <p:cNvPr id="10" name="jr-body">
            <a:extLst>
              <a:ext uri="{FF2B5EF4-FFF2-40B4-BE49-F238E27FC236}">
                <a16:creationId xmlns:a16="http://schemas.microsoft.com/office/drawing/2014/main" id="{9ABB91A0-2253-4821-A33E-185A47F3154C}"/>
              </a:ext>
            </a:extLst>
          </p:cNvPr>
          <p:cNvSpPr>
            <a:spLocks noGrp="1"/>
          </p:cNvSpPr>
          <p:nvPr/>
        </p:nvSpPr>
        <p:spPr>
          <a:xfrm>
            <a:off x="6334125" y="2714625"/>
            <a:ext cx="4953000" cy="2381250"/>
          </a:xfrm>
          <a:prstGeom prst="rect">
            <a:avLst/>
          </a:prstGeom>
          <a:noFill/>
          <a:ln w="0">
            <a:noFill/>
            <a:prstDash val="solid"/>
          </a:ln>
        </p:spPr>
        <p:txBody>
          <a:bodyPr anchor="t">
            <a:normAutofit fontScale="98203"/>
          </a:bodyPr>
          <a:lstStyle/>
          <a:p>
            <a:pPr algn="l">
              <a:buNone/>
              <a:defRPr sz="1650" b="0">
                <a:solidFill>
                  <a:srgbClr val="60646C"/>
                </a:solidFill>
                <a:latin typeface="Arial"/>
                <a:ea typeface="Arial"/>
                <a:cs typeface="Arial"/>
              </a:defRPr>
            </a:pPr>
            <a:r>
              <a:rPr sz="1650" b="0">
                <a:solidFill>
                  <a:srgbClr val="60646C"/>
                </a:solidFill>
                <a:latin typeface="Arial"/>
                <a:ea typeface="Arial"/>
                <a:cs typeface="Arial"/>
              </a:rPr>
              <a:t>• Broad analytics keyword detection can misclassify specific analytics work</a:t>
            </a:r>
          </a:p>
          <a:p>
            <a:endParaRPr sz="1650" b="0">
              <a:solidFill>
                <a:srgbClr val="60646C"/>
              </a:solidFill>
              <a:latin typeface="Arial"/>
              <a:ea typeface="Arial"/>
              <a:cs typeface="Arial"/>
            </a:endParaRPr>
          </a:p>
          <a:p>
            <a:pPr algn="l">
              <a:buNone/>
              <a:defRPr sz="1650" b="0">
                <a:solidFill>
                  <a:srgbClr val="60646C"/>
                </a:solidFill>
                <a:latin typeface="Arial"/>
                <a:ea typeface="Arial"/>
                <a:cs typeface="Arial"/>
              </a:defRPr>
            </a:pPr>
            <a:r>
              <a:rPr sz="1650" b="0">
                <a:solidFill>
                  <a:srgbClr val="60646C"/>
                </a:solidFill>
                <a:latin typeface="Arial"/>
                <a:ea typeface="Arial"/>
                <a:cs typeface="Arial"/>
              </a:rPr>
              <a:t>• Expired-link rate denominator continues growing after expiration</a:t>
            </a:r>
          </a:p>
          <a:p>
            <a:endParaRPr sz="1650" b="0">
              <a:solidFill>
                <a:srgbClr val="60646C"/>
              </a:solidFill>
              <a:latin typeface="Arial"/>
              <a:ea typeface="Arial"/>
              <a:cs typeface="Arial"/>
            </a:endParaRPr>
          </a:p>
          <a:p>
            <a:pPr algn="l">
              <a:buNone/>
              <a:defRPr sz="1650" b="0">
                <a:solidFill>
                  <a:srgbClr val="60646C"/>
                </a:solidFill>
                <a:latin typeface="Arial"/>
                <a:ea typeface="Arial"/>
                <a:cs typeface="Arial"/>
              </a:defRPr>
            </a:pPr>
            <a:r>
              <a:rPr sz="1650" b="0">
                <a:solidFill>
                  <a:srgbClr val="60646C"/>
                </a:solidFill>
                <a:latin typeface="Arial"/>
                <a:ea typeface="Arial"/>
                <a:cs typeface="Arial"/>
              </a:rPr>
              <a:t>• Accepted for the assessment prototype</a:t>
            </a:r>
          </a:p>
          <a:p>
            <a:endParaRPr sz="1650" b="0">
              <a:solidFill>
                <a:srgbClr val="60646C"/>
              </a:solidFill>
              <a:latin typeface="Arial"/>
              <a:ea typeface="Arial"/>
              <a:cs typeface="Arial"/>
            </a:endParaRPr>
          </a:p>
          <a:p>
            <a:pPr algn="l">
              <a:buNone/>
              <a:defRPr sz="1650" b="0">
                <a:solidFill>
                  <a:srgbClr val="60646C"/>
                </a:solidFill>
                <a:latin typeface="Arial"/>
                <a:ea typeface="Arial"/>
                <a:cs typeface="Arial"/>
              </a:defRPr>
            </a:pPr>
            <a:r>
              <a:rPr sz="1650" b="0">
                <a:solidFill>
                  <a:srgbClr val="60646C"/>
                </a:solidFill>
                <a:latin typeface="Arial"/>
                <a:ea typeface="Arial"/>
                <a:cs typeface="Arial"/>
              </a:rPr>
              <a:t>• Tracked as post-assessment hardening</a:t>
            </a:r>
          </a:p>
        </p:txBody>
      </p:sp>
    </p:spTree>
    <p:extLst>
      <p:ext uri="{BB962C8B-B14F-4D97-AF65-F5344CB8AC3E}">
        <p14:creationId xmlns:p14="http://schemas.microsoft.com/office/powerpoint/2010/main" val="269671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lose-eyebrow">
            <a:extLst>
              <a:ext uri="{FF2B5EF4-FFF2-40B4-BE49-F238E27FC236}">
                <a16:creationId xmlns:a16="http://schemas.microsoft.com/office/drawing/2014/main" id="{7ADF99D6-2386-4E58-9D18-C489A8DA8C3E}"/>
              </a:ext>
            </a:extLst>
          </p:cNvPr>
          <p:cNvSpPr>
            <a:spLocks noGrp="1"/>
          </p:cNvSpPr>
          <p:nvPr/>
        </p:nvSpPr>
        <p:spPr>
          <a:xfrm>
            <a:off x="457200" y="381000"/>
            <a:ext cx="4762500" cy="304800"/>
          </a:xfrm>
          <a:prstGeom prst="rect">
            <a:avLst/>
          </a:prstGeom>
          <a:noFill/>
          <a:ln w="0">
            <a:noFill/>
            <a:prstDash val="solid"/>
          </a:ln>
        </p:spPr>
        <p:txBody>
          <a:bodyPr anchor="t">
            <a:normAutofit/>
          </a:bodyPr>
          <a:lstStyle/>
          <a:p>
            <a:pPr algn="l">
              <a:buNone/>
              <a:defRPr sz="1350" b="1">
                <a:solidFill>
                  <a:srgbClr val="60646C"/>
                </a:solidFill>
                <a:latin typeface="Arial"/>
                <a:ea typeface="Arial"/>
                <a:cs typeface="Arial"/>
              </a:defRPr>
            </a:pPr>
            <a:r>
              <a:rPr sz="1350" b="1">
                <a:solidFill>
                  <a:srgbClr val="60646C"/>
                </a:solidFill>
                <a:latin typeface="Arial"/>
                <a:ea typeface="Arial"/>
                <a:cs typeface="Arial"/>
              </a:rPr>
              <a:t>ASSESSMENT CONCLUSION</a:t>
            </a:r>
          </a:p>
        </p:txBody>
      </p:sp>
      <p:sp>
        <p:nvSpPr>
          <p:cNvPr id="2" name="close-title">
            <a:extLst>
              <a:ext uri="{FF2B5EF4-FFF2-40B4-BE49-F238E27FC236}">
                <a16:creationId xmlns:a16="http://schemas.microsoft.com/office/drawing/2014/main" id="{E7288B79-1DA9-4160-8B71-E5BC3B0C4542}"/>
              </a:ext>
            </a:extLst>
          </p:cNvPr>
          <p:cNvSpPr>
            <a:spLocks noGrp="1"/>
          </p:cNvSpPr>
          <p:nvPr/>
        </p:nvSpPr>
        <p:spPr>
          <a:xfrm>
            <a:off x="457200" y="1666875"/>
            <a:ext cx="9525000" cy="1524000"/>
          </a:xfrm>
          <a:prstGeom prst="rect">
            <a:avLst/>
          </a:prstGeom>
          <a:noFill/>
          <a:ln w="0">
            <a:noFill/>
            <a:prstDash val="solid"/>
          </a:ln>
        </p:spPr>
        <p:txBody>
          <a:bodyPr anchor="t">
            <a:normAutofit/>
          </a:bodyPr>
          <a:lstStyle/>
          <a:p>
            <a:pPr algn="l">
              <a:buNone/>
              <a:defRPr sz="4350" b="1">
                <a:solidFill>
                  <a:srgbClr val="111111"/>
                </a:solidFill>
                <a:latin typeface="Arial"/>
                <a:ea typeface="Arial"/>
                <a:cs typeface="Arial"/>
              </a:defRPr>
            </a:pPr>
            <a:r>
              <a:rPr lang="en-US" sz="4350" b="1" dirty="0">
                <a:solidFill>
                  <a:srgbClr val="111111"/>
                </a:solidFill>
                <a:latin typeface="Arial"/>
                <a:ea typeface="Arial"/>
                <a:cs typeface="Arial"/>
              </a:rPr>
              <a:t>Ownership</a:t>
            </a:r>
          </a:p>
        </p:txBody>
      </p:sp>
      <p:sp>
        <p:nvSpPr>
          <p:cNvPr id="3" name="close-body">
            <a:extLst>
              <a:ext uri="{FF2B5EF4-FFF2-40B4-BE49-F238E27FC236}">
                <a16:creationId xmlns:a16="http://schemas.microsoft.com/office/drawing/2014/main" id="{1F42D3E4-2F34-4242-883B-6322B820D068}"/>
              </a:ext>
            </a:extLst>
          </p:cNvPr>
          <p:cNvSpPr>
            <a:spLocks noGrp="1"/>
          </p:cNvSpPr>
          <p:nvPr/>
        </p:nvSpPr>
        <p:spPr>
          <a:xfrm>
            <a:off x="457200" y="3905250"/>
            <a:ext cx="9144000" cy="952500"/>
          </a:xfrm>
          <a:prstGeom prst="rect">
            <a:avLst/>
          </a:prstGeom>
          <a:noFill/>
          <a:ln w="0">
            <a:noFill/>
            <a:prstDash val="solid"/>
          </a:ln>
        </p:spPr>
        <p:txBody>
          <a:bodyPr anchor="t">
            <a:normAutofit fontScale="96065"/>
          </a:bodyPr>
          <a:lstStyle/>
          <a:p>
            <a:pPr algn="l">
              <a:buNone/>
              <a:defRPr sz="2025" b="0">
                <a:solidFill>
                  <a:srgbClr val="111111"/>
                </a:solidFill>
                <a:latin typeface="Arial"/>
                <a:ea typeface="Arial"/>
                <a:cs typeface="Arial"/>
              </a:defRPr>
            </a:pPr>
            <a:r>
              <a:rPr sz="2025" b="0">
                <a:solidFill>
                  <a:srgbClr val="111111"/>
                </a:solidFill>
                <a:latin typeface="Arial"/>
                <a:ea typeface="Arial"/>
                <a:cs typeface="Arial"/>
              </a:rPr>
              <a:t>The prototype demonstrates end-to-end SDLC automation with state, dependency awareness, governance, recovery, traceability, and measurable evidence.</a:t>
            </a:r>
          </a:p>
        </p:txBody>
      </p:sp>
      <p:sp>
        <p:nvSpPr>
          <p:cNvPr id="4" name="close-accent">
            <a:extLst>
              <a:ext uri="{FF2B5EF4-FFF2-40B4-BE49-F238E27FC236}">
                <a16:creationId xmlns:a16="http://schemas.microsoft.com/office/drawing/2014/main" id="{5635F7E7-359B-407F-B835-A452510CB0E1}"/>
              </a:ext>
            </a:extLst>
          </p:cNvPr>
          <p:cNvSpPr>
            <a:spLocks noGrp="1"/>
          </p:cNvSpPr>
          <p:nvPr/>
        </p:nvSpPr>
        <p:spPr>
          <a:xfrm>
            <a:off x="457200" y="5572125"/>
            <a:ext cx="4762500" cy="114300"/>
          </a:xfrm>
          <a:prstGeom prst="rect">
            <a:avLst/>
          </a:prstGeom>
          <a:solidFill>
            <a:srgbClr val="3D8DFF"/>
          </a:solidFill>
          <a:ln w="0">
            <a:noFill/>
            <a:prstDash val="solid"/>
          </a:ln>
        </p:spPr>
        <p:txBody>
          <a:bodyPr/>
          <a:lstStyle/>
          <a:p>
            <a:endParaRPr lang="en-US"/>
          </a:p>
        </p:txBody>
      </p:sp>
      <p:sp>
        <p:nvSpPr>
          <p:cNvPr id="5" name="close-final">
            <a:extLst>
              <a:ext uri="{FF2B5EF4-FFF2-40B4-BE49-F238E27FC236}">
                <a16:creationId xmlns:a16="http://schemas.microsoft.com/office/drawing/2014/main" id="{BD0C89FB-4219-4970-99A2-874056672A9D}"/>
              </a:ext>
            </a:extLst>
          </p:cNvPr>
          <p:cNvSpPr>
            <a:spLocks noGrp="1"/>
          </p:cNvSpPr>
          <p:nvPr/>
        </p:nvSpPr>
        <p:spPr>
          <a:xfrm>
            <a:off x="457200" y="5953125"/>
            <a:ext cx="8096250" cy="342900"/>
          </a:xfrm>
          <a:prstGeom prst="rect">
            <a:avLst/>
          </a:prstGeom>
          <a:noFill/>
          <a:ln w="0">
            <a:noFill/>
            <a:prstDash val="solid"/>
          </a:ln>
        </p:spPr>
        <p:txBody>
          <a:bodyPr anchor="t">
            <a:normAutofit/>
          </a:bodyPr>
          <a:lstStyle/>
          <a:p>
            <a:pPr algn="l">
              <a:buNone/>
              <a:defRPr sz="1500" b="0">
                <a:solidFill>
                  <a:srgbClr val="60646C"/>
                </a:solidFill>
                <a:latin typeface="Arial"/>
                <a:ea typeface="Arial"/>
                <a:cs typeface="Arial"/>
              </a:defRPr>
            </a:pPr>
            <a:r>
              <a:rPr sz="1500" b="0">
                <a:solidFill>
                  <a:srgbClr val="60646C"/>
                </a:solidFill>
                <a:latin typeface="Arial"/>
                <a:ea typeface="Arial"/>
                <a:cs typeface="Arial"/>
              </a:rPr>
              <a:t>Ready for questions or the live workflow demonstration</a:t>
            </a:r>
          </a:p>
        </p:txBody>
      </p:sp>
      <p:sp>
        <p:nvSpPr>
          <p:cNvPr id="8" name="TextBox 7">
            <a:extLst>
              <a:ext uri="{FF2B5EF4-FFF2-40B4-BE49-F238E27FC236}">
                <a16:creationId xmlns:a16="http://schemas.microsoft.com/office/drawing/2014/main" id="{E8836C43-7081-CBC0-47E5-EA0DD1362F1C}"/>
              </a:ext>
            </a:extLst>
          </p:cNvPr>
          <p:cNvSpPr txBox="1"/>
          <p:nvPr/>
        </p:nvSpPr>
        <p:spPr>
          <a:xfrm>
            <a:off x="457200" y="2593955"/>
            <a:ext cx="6098058" cy="954107"/>
          </a:xfrm>
          <a:prstGeom prst="rect">
            <a:avLst/>
          </a:prstGeom>
          <a:noFill/>
        </p:spPr>
        <p:txBody>
          <a:bodyPr wrap="square">
            <a:spAutoFit/>
          </a:bodyPr>
          <a:lstStyle/>
          <a:p>
            <a:pPr algn="l">
              <a:buNone/>
              <a:defRPr sz="4350" b="1">
                <a:solidFill>
                  <a:srgbClr val="111111"/>
                </a:solidFill>
                <a:latin typeface="Arial"/>
                <a:ea typeface="Arial"/>
                <a:cs typeface="Arial"/>
              </a:defRPr>
            </a:pPr>
            <a:r>
              <a:rPr lang="en-US" sz="2800" dirty="0">
                <a:solidFill>
                  <a:srgbClr val="111111"/>
                </a:solidFill>
                <a:latin typeface="Arial"/>
                <a:ea typeface="Arial"/>
                <a:cs typeface="Arial"/>
              </a:rPr>
              <a:t>Agents execute.</a:t>
            </a:r>
          </a:p>
          <a:p>
            <a:pPr algn="l">
              <a:buNone/>
              <a:defRPr sz="4350" b="1">
                <a:solidFill>
                  <a:srgbClr val="111111"/>
                </a:solidFill>
                <a:latin typeface="Arial"/>
                <a:ea typeface="Arial"/>
                <a:cs typeface="Arial"/>
              </a:defRPr>
            </a:pPr>
            <a:r>
              <a:rPr lang="en-US" sz="2800" dirty="0">
                <a:solidFill>
                  <a:srgbClr val="111111"/>
                </a:solidFill>
                <a:latin typeface="Arial"/>
                <a:ea typeface="Arial"/>
                <a:cs typeface="Arial"/>
              </a:rPr>
              <a:t>Humans remain accountable.</a:t>
            </a:r>
            <a:endParaRPr lang="en-US" sz="2800" dirty="0"/>
          </a:p>
        </p:txBody>
      </p:sp>
    </p:spTree>
    <p:extLst>
      <p:ext uri="{BB962C8B-B14F-4D97-AF65-F5344CB8AC3E}">
        <p14:creationId xmlns:p14="http://schemas.microsoft.com/office/powerpoint/2010/main" val="175603130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1605</Words>
  <Application>Microsoft Office PowerPoint</Application>
  <DocSecurity>0</DocSecurity>
  <PresentationFormat>Widescreen</PresentationFormat>
  <Paragraphs>207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Satishkumar Raja</cp:lastModifiedBy>
  <cp:revision>1</cp:revision>
  <dcterms:created xsi:type="dcterms:W3CDTF">2026-08-30T01:16:35Z</dcterms:created>
  <dcterms:modified xsi:type="dcterms:W3CDTF">2026-08-30T17:34:32Z</dcterms:modified>
</cp:coreProperties>
</file>